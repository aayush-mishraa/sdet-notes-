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70" roundtripDataSignature="AMtx7mi19hiVf7rfb8CVtnr3OU6eH4uL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0" Type="http://customschemas.google.com/relationships/presentationmetadata" Target="meta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cab6c090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9cab6c0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1" name="Google Shape;541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7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7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513625" y="2894700"/>
            <a:ext cx="10396200" cy="30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5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Subqueries </a:t>
            </a:r>
            <a:r>
              <a:rPr lang="en-GB" sz="55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with </a:t>
            </a:r>
            <a:r>
              <a:rPr b="0" i="0" lang="en-GB" sz="5500" u="none" cap="none" strike="noStrike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Joins and </a:t>
            </a:r>
            <a:r>
              <a:rPr lang="en-GB" sz="55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Advanced </a:t>
            </a:r>
            <a:r>
              <a:rPr lang="en-GB" sz="55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Aggregate</a:t>
            </a:r>
            <a:r>
              <a:rPr lang="en-GB" sz="5500">
                <a:solidFill>
                  <a:srgbClr val="7F7F7F"/>
                </a:solidFill>
                <a:latin typeface="Avenir"/>
                <a:ea typeface="Avenir"/>
                <a:cs typeface="Avenir"/>
                <a:sym typeface="Avenir"/>
              </a:rPr>
              <a:t> Functions</a:t>
            </a:r>
            <a:endParaRPr sz="55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7">
              <a:solidFill>
                <a:srgbClr val="7F7F7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cab6c0908_0_0"/>
          <p:cNvSpPr/>
          <p:nvPr/>
        </p:nvSpPr>
        <p:spPr>
          <a:xfrm>
            <a:off x="0" y="0"/>
            <a:ext cx="5079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9cab6c0908_0_0"/>
          <p:cNvSpPr/>
          <p:nvPr/>
        </p:nvSpPr>
        <p:spPr>
          <a:xfrm>
            <a:off x="0" y="914400"/>
            <a:ext cx="5079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9cab6c0908_0_0"/>
          <p:cNvSpPr txBox="1"/>
          <p:nvPr/>
        </p:nvSpPr>
        <p:spPr>
          <a:xfrm>
            <a:off x="531000" y="1356974"/>
            <a:ext cx="11130000" cy="4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83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●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and Joins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●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Advanced Aggregate Function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Rank()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Dense_Rank()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Percent_rank()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LAG() &amp; LEAD() Function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First_Value()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Last_Value()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NTILE()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-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CUME_DIST()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683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venir"/>
              <a:buChar char="●"/>
            </a:pPr>
            <a:r>
              <a:rPr lang="en-GB" sz="2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Recursive Query Expression</a:t>
            </a:r>
            <a:endParaRPr sz="2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1" name="Google Shape;101;g9cab6c090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9cab6c0908_0_0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endParaRPr b="1" sz="45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and Joins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08000" y="2862133"/>
            <a:ext cx="109396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Subquery and JOIN perform the execution of queries similarly and retrieves the same output but varies with below features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31000" y="1842033"/>
            <a:ext cx="11130000" cy="4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separate the complex logic from the main query whereas JOINs enclose all the logic in the main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Subqueries can be used along with JOINS in many ways and will see with examples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Calculations can be done in the subquery and return as single value whereas JOIN query performs the calculation in main SELECT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60958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Priority of filtering the records in a table  is possible via subquery, whereas filtering the records is managed automatically by JOIN query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and Joins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31000" y="1219200"/>
            <a:ext cx="11130000" cy="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The resultant output of the SubQuery and JOIN is same </a:t>
            </a:r>
            <a:endParaRPr sz="21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449789" y="89332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Subqueries and Joins</a:t>
            </a:r>
            <a:endParaRPr sz="32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148167" y="1979567"/>
            <a:ext cx="3571600" cy="589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Subquery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7100133" y="1979575"/>
            <a:ext cx="3743600" cy="589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JOIN Query</a:t>
            </a:r>
            <a:endParaRPr sz="2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31000" y="2738684"/>
            <a:ext cx="5324000" cy="2468484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Tran_Amount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ransaction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in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Message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 between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'2020-04-01' and '2020-06-01'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6299200" y="2738767"/>
            <a:ext cx="5644400" cy="246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Acct_Num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Tran_Amount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ransaction,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Message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Tran_Date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AND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Event_dt between '2020-04-01' and '2020-06-01' 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648" y="5446867"/>
            <a:ext cx="2920701" cy="121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" name="Google Shape;135;p4"/>
          <p:cNvCxnSpPr/>
          <p:nvPr/>
        </p:nvCxnSpPr>
        <p:spPr>
          <a:xfrm>
            <a:off x="6064733" y="2038267"/>
            <a:ext cx="18000" cy="330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ctrTitle"/>
          </p:nvPr>
        </p:nvSpPr>
        <p:spPr>
          <a:xfrm>
            <a:off x="415600" y="2922767"/>
            <a:ext cx="11360800" cy="10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Font typeface="Avenir"/>
              <a:buNone/>
            </a:pPr>
            <a:r>
              <a:rPr lang="en-GB" sz="5333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5333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ctrTitle"/>
          </p:nvPr>
        </p:nvSpPr>
        <p:spPr>
          <a:xfrm>
            <a:off x="501167" y="1859000"/>
            <a:ext cx="11376800" cy="33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Row values are specified together with a series of column values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Row values are expressed in several ways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A list of scalar/column values separated by comma and parenthesized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Retrieving a set of two or more column results from database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ctrTitle"/>
          </p:nvPr>
        </p:nvSpPr>
        <p:spPr>
          <a:xfrm>
            <a:off x="501167" y="2013667"/>
            <a:ext cx="11376400" cy="32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These Row values are used in many contexts  like: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DML statements like INSERT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comparison expressions of WHERE clause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Refer subquery results in another query using comparative operators like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828754" rtl="0" algn="l">
              <a:lnSpc>
                <a:spcPct val="100000"/>
              </a:lnSpc>
              <a:spcBef>
                <a:spcPts val="1333"/>
              </a:spcBef>
              <a:spcAft>
                <a:spcPts val="1333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&lt;, &lt;=, &gt;, &gt;=, =, &lt;&gt;, IS, IS NOT, IN, NOT IN, BETWEEN,.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ctrTitle"/>
          </p:nvPr>
        </p:nvSpPr>
        <p:spPr>
          <a:xfrm>
            <a:off x="501167" y="1859000"/>
            <a:ext cx="11376800" cy="21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Row value expression in an </a:t>
            </a:r>
            <a:r>
              <a:rPr i="1" lang="en-GB" sz="2133">
                <a:latin typeface="Avenir"/>
                <a:ea typeface="Avenir"/>
                <a:cs typeface="Avenir"/>
                <a:sym typeface="Avenir"/>
              </a:rPr>
              <a:t>INSERT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statement: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Here, multiple rows can be inserted using one single </a:t>
            </a:r>
            <a:r>
              <a:rPr i="1" lang="en-GB" sz="2133">
                <a:latin typeface="Avenir"/>
                <a:ea typeface="Avenir"/>
                <a:cs typeface="Avenir"/>
                <a:sym typeface="Avenir"/>
              </a:rPr>
              <a:t>INSERT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statement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Whereas other RDBMS still expects to </a:t>
            </a:r>
            <a:r>
              <a:rPr i="1" lang="en-GB" sz="2133">
                <a:latin typeface="Avenir"/>
                <a:ea typeface="Avenir"/>
                <a:cs typeface="Avenir"/>
                <a:sym typeface="Avenir"/>
              </a:rPr>
              <a:t>INSERT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statement for each row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387200" y="4418567"/>
            <a:ext cx="9861200" cy="127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(123009,  'Renee', '3305-1, San-Fran',  'SFO',  1677617700 ),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(123010,  'Holly', '3225-2, Concord',   'NJ' ,  1673547700 );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ctrTitle"/>
          </p:nvPr>
        </p:nvSpPr>
        <p:spPr>
          <a:xfrm>
            <a:off x="501167" y="1859000"/>
            <a:ext cx="11012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Row value expression in an equality comparison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Here multiple columns ( cust_id, Address) are assigned with its corresponding values respectively, in order to select rows from the CUSTOMER table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1283633" y="4660233"/>
            <a:ext cx="10010800" cy="98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</a:t>
            </a:r>
            <a:r>
              <a:rPr b="1"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1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(Cust_Id, Address) = (123010 ,'3225-2, Concord')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ctrTitle"/>
          </p:nvPr>
        </p:nvSpPr>
        <p:spPr>
          <a:xfrm>
            <a:off x="501167" y="1912233"/>
            <a:ext cx="11376800" cy="17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Row value expression in a subquery referred by Select or update statements: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 main query of Account table is using multiple columns to search its corresponding rows in the subquery using IN operator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Row-valued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1668400" y="4061867"/>
            <a:ext cx="8855200" cy="17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(ACCT_NUM, BALANCE 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(SELECT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ACCT_NUM, TRAN_AMOUNT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1917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		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)</a:t>
            </a: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ctrTitle"/>
          </p:nvPr>
        </p:nvSpPr>
        <p:spPr>
          <a:xfrm>
            <a:off x="954800" y="2830633"/>
            <a:ext cx="10282400" cy="18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667">
                <a:latin typeface="Trebuchet MS"/>
                <a:ea typeface="Trebuchet MS"/>
                <a:cs typeface="Trebuchet MS"/>
                <a:sym typeface="Trebuchet MS"/>
              </a:rPr>
              <a:t>Data type like integer, character &amp;  date format should match when the columns of main Query are compared with subquery used in an IN operator</a:t>
            </a:r>
            <a:endParaRPr i="1" sz="2667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ctrTitle"/>
          </p:nvPr>
        </p:nvSpPr>
        <p:spPr>
          <a:xfrm>
            <a:off x="501167" y="2203400"/>
            <a:ext cx="11376800" cy="40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57188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Trebuchet MS"/>
              <a:buChar char="●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Rules for row - valued expression using INSERT statement: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188" lvl="1" marL="1219170" rtl="0" algn="l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Trebuchet MS"/>
              <a:buChar char="○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NULLS are accepted in columns of VALUES expression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188" lvl="1" marL="1219170" rtl="0" algn="l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Trebuchet MS"/>
              <a:buChar char="○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Columns in VALUES clause will not support default values which were defined at table level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188" lvl="1" marL="1219170" rtl="0" algn="l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Trebuchet MS"/>
              <a:buChar char="○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When an INSERT statement is need for inserting huge number of rows, it is advised to use import methods from a file to table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5" name="Google Shape;185;p12"/>
          <p:cNvPicPr preferRelativeResize="0"/>
          <p:nvPr/>
        </p:nvPicPr>
        <p:blipFill rotWithShape="1">
          <a:blip r:embed="rId3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>
            <p:ph type="ctrTitle"/>
          </p:nvPr>
        </p:nvSpPr>
        <p:spPr>
          <a:xfrm>
            <a:off x="517200" y="2576300"/>
            <a:ext cx="11360800" cy="2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57188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Avenir"/>
              <a:buChar char="●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Rules for row - valued expression using IN operator and JOIN clauses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188" lvl="1" marL="1219170" rtl="0" algn="l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Trebuchet MS"/>
              <a:buChar char="○"/>
            </a:pPr>
            <a:r>
              <a:rPr i="1" lang="en-GB" sz="2400">
                <a:solidFill>
                  <a:srgbClr val="323232"/>
                </a:solidFill>
                <a:latin typeface="Trebuchet MS"/>
                <a:ea typeface="Trebuchet MS"/>
                <a:cs typeface="Trebuchet MS"/>
                <a:sym typeface="Trebuchet MS"/>
              </a:rPr>
              <a:t>Indexes of single columns of row valued expressions become unused when these are represented in JOINS</a:t>
            </a:r>
            <a:endParaRPr i="1" sz="2400">
              <a:solidFill>
                <a:srgbClr val="32323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ctrTitle"/>
          </p:nvPr>
        </p:nvSpPr>
        <p:spPr>
          <a:xfrm>
            <a:off x="415600" y="2922767"/>
            <a:ext cx="11360800" cy="10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Font typeface="Avenir"/>
              <a:buNone/>
            </a:pPr>
            <a:r>
              <a:rPr lang="en-GB" sz="5333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Query Expressions</a:t>
            </a:r>
            <a:endParaRPr sz="5333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type="ctrTitle"/>
          </p:nvPr>
        </p:nvSpPr>
        <p:spPr>
          <a:xfrm>
            <a:off x="501167" y="1871667"/>
            <a:ext cx="11376800" cy="452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Query expression defines search criteria of a pattern from a string of characters.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These expressions can be used in WHERE clause conditions to filter the rows based on matching patterns.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Analytics uses these expressions to retrieve the text at granular level. So that these expressions identifies the partial text entries.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Sometimes the expressions detect the patterns based on vowel sounds. So that users can identify the words with different meaning but same pronunciation.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ctrTitle"/>
          </p:nvPr>
        </p:nvSpPr>
        <p:spPr>
          <a:xfrm>
            <a:off x="501167" y="1829000"/>
            <a:ext cx="113776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LIKE clause identifies the rows based on a partition of pattern matching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501167" y="5340833"/>
            <a:ext cx="11322800" cy="1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Wild character </a:t>
            </a:r>
            <a:r>
              <a:rPr b="1"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‘%’</a:t>
            </a: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is used along with LIKE clause to retrieve all records with customer Name having prefix </a:t>
            </a:r>
            <a:r>
              <a:rPr b="1"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‘Ja……’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2750200" y="2727100"/>
            <a:ext cx="6691600" cy="97256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</a:t>
            </a: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</a:t>
            </a: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LIKE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'Ja%';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459" y="3988100"/>
            <a:ext cx="5045084" cy="8977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ctrTitle"/>
          </p:nvPr>
        </p:nvSpPr>
        <p:spPr>
          <a:xfrm>
            <a:off x="501167" y="1908167"/>
            <a:ext cx="112752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SOUNDEX() - Function used to identify the word with different meaning but same pronunciation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501167" y="5648833"/>
            <a:ext cx="112752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It best helps analytics to understand people’s native language influence on few words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2635033" y="3191400"/>
            <a:ext cx="6565200" cy="89727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SOUNDEX('JACOB') , SOUNDEX( 'JAKOB');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0732" y="4471701"/>
            <a:ext cx="3676067" cy="53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ctrTitle"/>
          </p:nvPr>
        </p:nvSpPr>
        <p:spPr>
          <a:xfrm>
            <a:off x="510000" y="1795033"/>
            <a:ext cx="11544000" cy="43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INSTR() - Function used to identify the position of a small portion of pattern in a complete string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E.g :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INSTR(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'Enterprise Data Analytics' , 'Data'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 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  12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REPLACE() - Replace Data with Functional in below string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E.g :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REPLACE(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'Enterprise Data Analytics', 'Data', 'Functional'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 Enterprise Functional Analytics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>
            <p:ph type="ctrTitle"/>
          </p:nvPr>
        </p:nvSpPr>
        <p:spPr>
          <a:xfrm>
            <a:off x="495600" y="1498600"/>
            <a:ext cx="11280800" cy="39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CAST() - Function is used to change one data type to other data type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E.g: Change type of Char to Date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24383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SELECT CAST(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'2003-01-01' AS DATE</a:t>
            </a: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b="1" sz="2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599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Here the date is in character format and CAST() function is used to change the data type to date which is system understandable format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ctrTitle"/>
          </p:nvPr>
        </p:nvSpPr>
        <p:spPr>
          <a:xfrm>
            <a:off x="495600" y="1818067"/>
            <a:ext cx="11512400" cy="24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CONVERT() - This function also works similar to CAST , while CAST is ANSI function, CONVERT is used in commercial RDBMS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E.g: Change type of Char to Date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24383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609585" lvl="0" marL="24383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SELECT CONVERT 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('2003-01-01' , DATE )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Query Expression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ctrTitle"/>
          </p:nvPr>
        </p:nvSpPr>
        <p:spPr>
          <a:xfrm>
            <a:off x="415600" y="2922767"/>
            <a:ext cx="11360800" cy="10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Font typeface="Avenir"/>
              <a:buNone/>
            </a:pPr>
            <a:r>
              <a:rPr lang="en-GB" sz="5333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Advanced Aggregate Functions</a:t>
            </a:r>
            <a:endParaRPr sz="5333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>
            <p:ph type="ctrTitle"/>
          </p:nvPr>
        </p:nvSpPr>
        <p:spPr>
          <a:xfrm>
            <a:off x="509000" y="1862633"/>
            <a:ext cx="11267600" cy="34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Many RDBMS provides Analytical functions to perform complex operations and evaluate the results efficiently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Analytical functions reduces the use of JOINS as these perform many self join operations on same database table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Analytical functions are otherwise called as </a:t>
            </a:r>
            <a:r>
              <a:rPr i="1" lang="en-GB" sz="2133">
                <a:latin typeface="Avenir"/>
                <a:ea typeface="Avenir"/>
                <a:cs typeface="Avenir"/>
                <a:sym typeface="Avenir"/>
              </a:rPr>
              <a:t>windowing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or Online Analytical Processing (OLAP) functions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Advanced Aggregate Functions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ctrTitle"/>
          </p:nvPr>
        </p:nvSpPr>
        <p:spPr>
          <a:xfrm>
            <a:off x="496567" y="1900567"/>
            <a:ext cx="112800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Window/ Analytical  function uses OVER() clause to calculate aggregate results on group of rows based on candidate key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aggregate result thus produced from group of rows is again shared for each row in the group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This is an advanced feature of GROUP BY clause by sharing aggregate result at row level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Advanced Aggregate Functions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ctrTitle"/>
          </p:nvPr>
        </p:nvSpPr>
        <p:spPr>
          <a:xfrm>
            <a:off x="501167" y="2004400"/>
            <a:ext cx="11343600" cy="336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Reporting shows the comparison between current record entry with aggregate result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Build statistics on the cumulative results rather than aggregate results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More granular level of cost controlling in Financial organization whereas strategic reports are usually generated by GROUP by clauses as they show overall financial performance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Advanced Aggregate Functions - Benefits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ctrTitle"/>
          </p:nvPr>
        </p:nvSpPr>
        <p:spPr>
          <a:xfrm>
            <a:off x="509000" y="1908167"/>
            <a:ext cx="11267600" cy="390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4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ranking functions assign a rank for each row in an ordered group of rows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rank is assigned to rows in a sequential manner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assignment of rank to each of the rows always start with 1 for every new partition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There are 3 types of ranking functions supported in MySQL-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rank()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dense_rank()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percent_rank()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Window Functions - Ranking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type="ctrTitle"/>
          </p:nvPr>
        </p:nvSpPr>
        <p:spPr>
          <a:xfrm>
            <a:off x="517200" y="1897300"/>
            <a:ext cx="11360800" cy="8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Displays the rank for each record based on highest value of a desired column by calculating on group of rows divided by corresponding candidate key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3" name="Google Shape;273;p26"/>
          <p:cNvSpPr txBox="1"/>
          <p:nvPr>
            <p:ph type="ctrTitle"/>
          </p:nvPr>
        </p:nvSpPr>
        <p:spPr>
          <a:xfrm>
            <a:off x="564700" y="3198867"/>
            <a:ext cx="11500800" cy="142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Cust_Id, Acct_Num, Acct_Type, Balance,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RANK()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( PARTITION BY Cust_Id ORDER BY Balance desc ) AS Rank_of_balance_amount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 ACCOUNT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Cust_Id in (  123001 , 123002 )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1385" y="4973801"/>
            <a:ext cx="6289233" cy="12556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ctrTitle"/>
          </p:nvPr>
        </p:nvSpPr>
        <p:spPr>
          <a:xfrm>
            <a:off x="501167" y="1836333"/>
            <a:ext cx="11690800" cy="33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this example, Over() clause groups the rows based on candidate key: CUST_ID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For each group of rows,  “order by” clause sorts the column: Balance in a descending order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Rank() is a open-closed bracket function that gives the rank for all balances maintained by customer in different accounts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ctrTitle"/>
          </p:nvPr>
        </p:nvSpPr>
        <p:spPr>
          <a:xfrm>
            <a:off x="564700" y="2953500"/>
            <a:ext cx="11360800" cy="331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5200"/>
              <a:buFont typeface="Avenir"/>
              <a:buNone/>
            </a:pPr>
            <a:r>
              <a:rPr lang="en-GB" sz="2133">
                <a:solidFill>
                  <a:srgbClr val="323232"/>
                </a:solidFill>
                <a:latin typeface="Avenir"/>
                <a:ea typeface="Avenir"/>
                <a:cs typeface="Avenir"/>
                <a:sym typeface="Avenir"/>
              </a:rPr>
              <a:t># Insert a record for this example</a:t>
            </a:r>
            <a:endParaRPr sz="2133">
              <a:solidFill>
                <a:srgbClr val="32323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INSERT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INTO </a:t>
            </a: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(123004, '5000-1899-6092','FIXED DEPOSITS'    , 7500000    , 'ACTIVE' , 'S' ) ;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73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# Example :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733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Cust_Id, Acct_Num, Acct_type, Balance,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RANK() OVER(PARTITION BY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Cust_Id  </a:t>
            </a: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Balance desc </a:t>
            </a: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 Rank_of_balance_amount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733"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733">
                <a:latin typeface="Courier New"/>
                <a:ea typeface="Courier New"/>
                <a:cs typeface="Courier New"/>
                <a:sym typeface="Courier New"/>
              </a:rPr>
              <a:t>Cust_Id in (  123004 ) </a:t>
            </a:r>
            <a:endParaRPr sz="1733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28"/>
          <p:cNvSpPr txBox="1"/>
          <p:nvPr>
            <p:ph type="ctrTitle"/>
          </p:nvPr>
        </p:nvSpPr>
        <p:spPr>
          <a:xfrm>
            <a:off x="489667" y="1797867"/>
            <a:ext cx="112868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Display similar rank for equal values in a column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  <p:sp>
        <p:nvSpPr>
          <p:cNvPr id="294" name="Google Shape;294;p29"/>
          <p:cNvSpPr txBox="1"/>
          <p:nvPr>
            <p:ph type="ctrTitle"/>
          </p:nvPr>
        </p:nvSpPr>
        <p:spPr>
          <a:xfrm>
            <a:off x="517200" y="4476100"/>
            <a:ext cx="11203200" cy="18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For Cust_Id: 123004 , there are equal balance amounts for two of its FIXED DEPOSIT accounts in the descending order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Hence the </a:t>
            </a:r>
            <a:r>
              <a:rPr b="1" i="1" lang="en-GB" sz="2133">
                <a:latin typeface="Avenir"/>
                <a:ea typeface="Avenir"/>
                <a:cs typeface="Avenir"/>
                <a:sym typeface="Avenir"/>
              </a:rPr>
              <a:t>same rank - </a:t>
            </a:r>
            <a:r>
              <a:rPr b="1" lang="en-GB" sz="2133">
                <a:latin typeface="Avenir"/>
                <a:ea typeface="Avenir"/>
                <a:cs typeface="Avenir"/>
                <a:sym typeface="Avenir"/>
              </a:rPr>
              <a:t>(1)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is assigned for both the FIXED DEPOSIT accounts, but </a:t>
            </a:r>
            <a:r>
              <a:rPr b="1" i="1" lang="en-GB" sz="2400">
                <a:latin typeface="Avenir"/>
                <a:ea typeface="Avenir"/>
                <a:cs typeface="Avenir"/>
                <a:sym typeface="Avenir"/>
              </a:rPr>
              <a:t>skipped </a:t>
            </a: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rank -(2). and assigns rank - (3) for the next balance in descending order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985" y="2824333"/>
            <a:ext cx="6632033" cy="11092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ctrTitle"/>
          </p:nvPr>
        </p:nvSpPr>
        <p:spPr>
          <a:xfrm>
            <a:off x="1042000" y="2922700"/>
            <a:ext cx="10183600" cy="17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667">
                <a:latin typeface="Trebuchet MS"/>
                <a:ea typeface="Trebuchet MS"/>
                <a:cs typeface="Trebuchet MS"/>
                <a:sym typeface="Trebuchet MS"/>
              </a:rPr>
              <a:t>Rank() function will keep skipping the subsequent ranks based on the count of similar column values</a:t>
            </a:r>
            <a:endParaRPr i="1" sz="2667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i="1" sz="2667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667">
                <a:latin typeface="Trebuchet MS"/>
                <a:ea typeface="Trebuchet MS"/>
                <a:cs typeface="Trebuchet MS"/>
                <a:sym typeface="Trebuchet MS"/>
              </a:rPr>
              <a:t>No. of Ranks skipped = No. of gaps between similar column values </a:t>
            </a:r>
            <a:endParaRPr i="1" sz="2667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4688" l="11594" r="10692" t="4094"/>
          <a:stretch/>
        </p:blipFill>
        <p:spPr>
          <a:xfrm>
            <a:off x="577867" y="248134"/>
            <a:ext cx="1638700" cy="1409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ctrTitle"/>
          </p:nvPr>
        </p:nvSpPr>
        <p:spPr>
          <a:xfrm>
            <a:off x="516700" y="1907200"/>
            <a:ext cx="11294400" cy="8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Dense_rank displays the rank based on highest value of a desired column, but it preserves the rank for next following record without skipping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8" name="Google Shape;308;p31"/>
          <p:cNvSpPr txBox="1"/>
          <p:nvPr>
            <p:ph type="ctrTitle"/>
          </p:nvPr>
        </p:nvSpPr>
        <p:spPr>
          <a:xfrm>
            <a:off x="566600" y="3224733"/>
            <a:ext cx="11058800" cy="217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Cust_Id, Acct_Num, Acct_type, Balance, 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DENSE_RANK() OVER (PARTITIoN BY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Cust_Id  </a:t>
            </a: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Balance </a:t>
            </a: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desc)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Dense_rank_of_balance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2133"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-GB" sz="2133">
                <a:latin typeface="Courier New"/>
                <a:ea typeface="Courier New"/>
                <a:cs typeface="Courier New"/>
                <a:sym typeface="Courier New"/>
              </a:rPr>
              <a:t> Cust_Id =  123004 </a:t>
            </a:r>
            <a:endParaRPr sz="2133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Dense_Rank()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>
            <p:ph type="ctrTitle"/>
          </p:nvPr>
        </p:nvSpPr>
        <p:spPr>
          <a:xfrm>
            <a:off x="512700" y="3958300"/>
            <a:ext cx="10942800" cy="201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this example, Dense_Rank() function assigns the same rank - (1) when the balance : 7500000 is identified same for two different accounts. But it preserved the rank - (2) without skipping it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So, the Dense_rank() will not skip any rank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Dense_Rank()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16" name="Google Shape;3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9500" y="2274201"/>
            <a:ext cx="6774368" cy="11781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7" name="Google Shape;317;p32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/>
          <p:nvPr>
            <p:ph type="ctrTitle"/>
          </p:nvPr>
        </p:nvSpPr>
        <p:spPr>
          <a:xfrm>
            <a:off x="482200" y="1733600"/>
            <a:ext cx="11379600" cy="17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While the partitioned rows are in ascending order, the percent_rank () calculates the percentage of rank basis on formula:     </a:t>
            </a:r>
            <a:r>
              <a:rPr b="1" lang="en-GB" sz="2133">
                <a:latin typeface="Avenir"/>
                <a:ea typeface="Avenir"/>
                <a:cs typeface="Avenir"/>
                <a:sym typeface="Avenir"/>
              </a:rPr>
              <a:t>(</a:t>
            </a:r>
            <a:r>
              <a:rPr b="1" i="1" lang="en-GB" sz="2133">
                <a:latin typeface="Avenir"/>
                <a:ea typeface="Avenir"/>
                <a:cs typeface="Avenir"/>
                <a:sym typeface="Avenir"/>
              </a:rPr>
              <a:t>rank</a:t>
            </a:r>
            <a:r>
              <a:rPr b="1" lang="en-GB" sz="2133">
                <a:latin typeface="Avenir"/>
                <a:ea typeface="Avenir"/>
                <a:cs typeface="Avenir"/>
                <a:sym typeface="Avenir"/>
              </a:rPr>
              <a:t> - 1) / ( </a:t>
            </a:r>
            <a:r>
              <a:rPr b="1" i="1" lang="en-GB" sz="2133">
                <a:latin typeface="Avenir"/>
                <a:ea typeface="Avenir"/>
                <a:cs typeface="Avenir"/>
                <a:sym typeface="Avenir"/>
              </a:rPr>
              <a:t>rows</a:t>
            </a:r>
            <a:r>
              <a:rPr b="1" lang="en-GB" sz="2133">
                <a:latin typeface="Avenir"/>
                <a:ea typeface="Avenir"/>
                <a:cs typeface="Avenir"/>
                <a:sym typeface="Avenir"/>
              </a:rPr>
              <a:t> - 1)</a:t>
            </a:r>
            <a:endParaRPr b="1"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b="1"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Eventually, all of the rows in a partition shares a range of fraction from 0 - 1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817867" y="3586200"/>
            <a:ext cx="10430800" cy="293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#Insert record</a:t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( 123004 ,'5000-8800-9977', 'FIXED DEPOSITS', 755000, 'ACTIVE', 'S' 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#Example</a:t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Cust_Id, Acct_Num, acct_type, Balance,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PERCENT_RANK()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OVER (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PARTITION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Cust_Id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balance)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Percent_rank_of_balance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 =  123004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30" name="Google Shape;3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2634" y="2898800"/>
            <a:ext cx="6546732" cy="1382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1" name="Google Shape;331;p34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ctrTitle"/>
          </p:nvPr>
        </p:nvSpPr>
        <p:spPr>
          <a:xfrm>
            <a:off x="483733" y="1599433"/>
            <a:ext cx="114872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Percent_rank() also skips the rank percentage when identified with duplicate values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759800" y="3014767"/>
            <a:ext cx="10672400" cy="307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#Insert record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(123004,'6000-3300-9222', 'FIXED DEPOSITS', 9025300, 'ACTIVE', 'S')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#Example: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Cust_Id, Acct_Num, acct_type , balance ,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percent_rank() OVER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Partition by Cust_Id  order by balance 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Percent_rank_of_balance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 =  123004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Percent_Rank()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4" name="Google Shape;344;p36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  <p:pic>
        <p:nvPicPr>
          <p:cNvPr id="345" name="Google Shape;3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250" y="3263101"/>
            <a:ext cx="6287500" cy="15121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7"/>
          <p:cNvSpPr txBox="1"/>
          <p:nvPr>
            <p:ph type="ctrTitle"/>
          </p:nvPr>
        </p:nvSpPr>
        <p:spPr>
          <a:xfrm>
            <a:off x="501167" y="1720633"/>
            <a:ext cx="105664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a normal select query , all records are interpreted serially; Sometimes there is a need to look back and forth while you are retrieving the current record in SELECT query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3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LAG() and LEAD()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2" name="Google Shape;352;p37"/>
          <p:cNvSpPr txBox="1"/>
          <p:nvPr/>
        </p:nvSpPr>
        <p:spPr>
          <a:xfrm>
            <a:off x="1208200" y="3596300"/>
            <a:ext cx="10005600" cy="178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Cust_Id, Acct_Num, Acct_Type , Balance 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LAG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Balance)  previous_balance,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LEAD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OVER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Balance)  next_balance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 =  123004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>
            <p:ph type="ctrTitle"/>
          </p:nvPr>
        </p:nvSpPr>
        <p:spPr>
          <a:xfrm>
            <a:off x="489667" y="4420533"/>
            <a:ext cx="11297600" cy="20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this example, the current record shows its previous record balance and its next record balance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‘previous _balance’ is Null if no records exist. Similarly, next_balance is Null if there are no further records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8" name="Google Shape;358;p3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LAG() and LEAD() Function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9" name="Google Shape;359;p38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  <p:pic>
        <p:nvPicPr>
          <p:cNvPr id="360" name="Google Shape;3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785" y="2613267"/>
            <a:ext cx="6616433" cy="14870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9"/>
          <p:cNvSpPr txBox="1"/>
          <p:nvPr>
            <p:ph type="ctrTitle"/>
          </p:nvPr>
        </p:nvSpPr>
        <p:spPr>
          <a:xfrm>
            <a:off x="509000" y="1010133"/>
            <a:ext cx="10581600" cy="2824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FIRST_VALUE () function analyzes the results of analytical expression which is defined as OVER(),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and then returns the first value from the ordered set of rows.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OVER() expression is defined with Order clause only.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GB" sz="1867"/>
              <a:t>E.g : 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Cust_Id, Acct_Num, Acct_Type, Balance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FIRST_VALUE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order by Balance )   Least_balance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acct_type = 'FIXED DEPOSITS'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6" name="Google Shape;366;p39"/>
          <p:cNvSpPr txBox="1"/>
          <p:nvPr>
            <p:ph type="ctrTitle"/>
          </p:nvPr>
        </p:nvSpPr>
        <p:spPr>
          <a:xfrm>
            <a:off x="466533" y="5198367"/>
            <a:ext cx="11320800" cy="1334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 this example, the original balance of the ACCOUNT table is placed in an order in OVER() expression.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Later , the first_Value () has chosen the least balance out of all FIXED DEPOSITS, and displayed it across all records in total output.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FIRST_VALUE()  using order by 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68" name="Google Shape;3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34" y="3834533"/>
            <a:ext cx="7247500" cy="120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/>
          <p:nvPr>
            <p:ph type="ctrTitle"/>
          </p:nvPr>
        </p:nvSpPr>
        <p:spPr>
          <a:xfrm>
            <a:off x="564700" y="1284971"/>
            <a:ext cx="105816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FIRST_VALUE () function analyzes the results of analytical expression which is defined as OVER(),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and then returns the first value from the ordered set of rows.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OVER() expression is defined with partition by and Order by clauses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GB" sz="1867"/>
              <a:t>E.g : 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Acct_Num, Acct_Type, Balance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FIRST_VALUE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i="1" lang="en-GB" sz="1867">
                <a:latin typeface="Courier New"/>
                <a:ea typeface="Courier New"/>
                <a:cs typeface="Courier New"/>
                <a:sym typeface="Courier New"/>
              </a:rPr>
              <a:t>partition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Acct_type </a:t>
            </a:r>
            <a:r>
              <a:rPr i="1" lang="en-GB" sz="1867">
                <a:latin typeface="Courier New"/>
                <a:ea typeface="Courier New"/>
                <a:cs typeface="Courier New"/>
                <a:sym typeface="Courier New"/>
              </a:rPr>
              <a:t>order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by balance)   Least_balance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balance &gt; 0 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FIRST_VALUE() using Partition and order clauses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75" name="Google Shape;3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8023" y="4532811"/>
            <a:ext cx="5619482" cy="2063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"/>
          <p:cNvSpPr txBox="1"/>
          <p:nvPr>
            <p:ph type="ctrTitle"/>
          </p:nvPr>
        </p:nvSpPr>
        <p:spPr>
          <a:xfrm>
            <a:off x="466533" y="1179795"/>
            <a:ext cx="10642000" cy="45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 this example,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Initially, all of the table rows are partitioned into FIXED DEPOSITS and SAVINGS using ACCT_TYPE column.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Secondly, the two partitioned rows that are FIXED DEPOSITS and SAVINGS are ordered separately  based on their respective balance values.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-	Finally, the first_Value ()  is applied on the individual partitioned rows and chooses the least balance from each  of partition and displays it across the partitioned rows.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1" name="Google Shape;381;p41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FIRST_VALUE() using Partition and order clauses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"/>
          <p:cNvSpPr txBox="1"/>
          <p:nvPr>
            <p:ph type="ctrTitle"/>
          </p:nvPr>
        </p:nvSpPr>
        <p:spPr>
          <a:xfrm>
            <a:off x="509000" y="1010133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FIRST_VALUE () function analyzes the results of analytical expression which is defined as OVER(),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and then returns the last value from an ordered set of rows.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 OVER() expression is defined with Order clause and additionally it uses a range of values.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7" name="Google Shape;387;p42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LAST_VALUE()  using Range of values in a row order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8" name="Google Shape;388;p42"/>
          <p:cNvSpPr txBox="1"/>
          <p:nvPr>
            <p:ph type="ctrTitle"/>
          </p:nvPr>
        </p:nvSpPr>
        <p:spPr>
          <a:xfrm>
            <a:off x="708900" y="2364833"/>
            <a:ext cx="9927600" cy="325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LAST_VALUE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order by Balance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RANGE BETWEEN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    UNBOUNDED PRECEDING AND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    UNBOUNDED FOLLOWING ) AS last_original_value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Acct_type = 'FIXED DEPOSITS';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89" name="Google Shape;38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6867" y="4973533"/>
            <a:ext cx="6102567" cy="1644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ctrTitle"/>
          </p:nvPr>
        </p:nvSpPr>
        <p:spPr>
          <a:xfrm>
            <a:off x="564700" y="1373400"/>
            <a:ext cx="10460351" cy="3917057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 this example,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Initially, all of the table rows are ordered by using Balance column values.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Secondly, RANGE between unbounded PRECEDING and FOLLOWING  is used to define the range of values that are returned in an ordered set of rows.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Finally, the last_Value ()  choses the last value from the range in an order set of rows and then assigns the last value across each record in the total output.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LAST_VALUE()  using Range of values in a row order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>
            <p:ph type="ctrTitle"/>
          </p:nvPr>
        </p:nvSpPr>
        <p:spPr>
          <a:xfrm>
            <a:off x="509000" y="1441206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FIRST_VALUE () function analyzes the results of analytical expression which is defined as OVER(),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and then returns the last value from an ordered set of rows.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 OVER() expression is defined with Order clause and additionally it uses a range of values.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1" name="Google Shape;401;p44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LAST_VALUE()  using partition and Range order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2" name="Google Shape;402;p44"/>
          <p:cNvSpPr txBox="1"/>
          <p:nvPr>
            <p:ph type="ctrTitle"/>
          </p:nvPr>
        </p:nvSpPr>
        <p:spPr>
          <a:xfrm>
            <a:off x="708900" y="2652219"/>
            <a:ext cx="9927600" cy="3265258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LAST_VALUE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(Balance) 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Partition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ACCT_TYPE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order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Balance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RANGE BETWEEN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    UNBOUNDED PRECEDING AND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             UNBOUNDED FOLLOWING ) AS part_last_value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balance &gt; 0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ctrTitle"/>
          </p:nvPr>
        </p:nvSpPr>
        <p:spPr>
          <a:xfrm>
            <a:off x="564700" y="1113700"/>
            <a:ext cx="10642000" cy="344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 this example,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Initially, all of the table rows are initially partitioned by ACCT_TYPE and then ordered by using Balance column values.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Secondly, RANGE between unbounded PRECEDING and FOLLOWING  is used to define the range of values that are returned in an ordered set of rows.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-423323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-"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Finally, the last_Value ()  choses the last value from the range in an order set of rows from each partitions: FIXED DEPOSITS and SAVINGS, and then displays the last value across each record in the partition.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8" name="Google Shape;408;p45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LAST_VALUE()  using partition and Range order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09" name="Google Shape;4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659" y="4041025"/>
            <a:ext cx="4692301" cy="2691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/>
          <p:nvPr>
            <p:ph type="ctrTitle"/>
          </p:nvPr>
        </p:nvSpPr>
        <p:spPr>
          <a:xfrm>
            <a:off x="509000" y="1010133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NTILE () function analyzes the results of analytical expression which is defined as OVER().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NTILE () splits the total records into predefined number of buckets.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5" name="Google Shape;415;p4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NTILE()  categorize the records into buckets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6" name="Google Shape;416;p46"/>
          <p:cNvSpPr txBox="1"/>
          <p:nvPr>
            <p:ph type="ctrTitle"/>
          </p:nvPr>
        </p:nvSpPr>
        <p:spPr>
          <a:xfrm>
            <a:off x="564700" y="2187800"/>
            <a:ext cx="7038400" cy="26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NTILE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(3) 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order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Balance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) AS sav_bucket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Acct_type = 'SAVINGS' and balance &gt; 0 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17" name="Google Shape;41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467" y="4076467"/>
            <a:ext cx="5128533" cy="2380533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6"/>
          <p:cNvSpPr txBox="1"/>
          <p:nvPr>
            <p:ph type="ctrTitle"/>
          </p:nvPr>
        </p:nvSpPr>
        <p:spPr>
          <a:xfrm>
            <a:off x="509000" y="4867400"/>
            <a:ext cx="59964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NTILE is defined with “3” by the developer.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The last bucket - 3 is created with remaining left over records after all the rows are divided equally by Ntile value -3  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/>
          <p:nvPr>
            <p:ph type="ctrTitle"/>
          </p:nvPr>
        </p:nvSpPr>
        <p:spPr>
          <a:xfrm>
            <a:off x="509000" y="1010133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NTILE () splits the total records into predefined number of buckets within each sorted partition results in OVER() expression.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4" name="Google Shape;424;p4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NTILE()  with partitioning clause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25" name="Google Shape;425;p47"/>
          <p:cNvSpPr txBox="1"/>
          <p:nvPr>
            <p:ph type="ctrTitle"/>
          </p:nvPr>
        </p:nvSpPr>
        <p:spPr>
          <a:xfrm>
            <a:off x="564700" y="2187800"/>
            <a:ext cx="7038400" cy="26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Acct_Num,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NTILE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(2) 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OVER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partition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ACCT_TYPE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order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Balance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609585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) AS bucket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ACCOUNT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balance &gt; 0 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6" name="Google Shape;42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8233" y="3890200"/>
            <a:ext cx="4182499" cy="2712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7"/>
          <p:cNvSpPr txBox="1"/>
          <p:nvPr>
            <p:ph type="ctrTitle"/>
          </p:nvPr>
        </p:nvSpPr>
        <p:spPr>
          <a:xfrm>
            <a:off x="450000" y="5244900"/>
            <a:ext cx="5996400" cy="1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the buckets are created within the partitioned rows: FIXED DEPOSITS and SAVINGS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type="ctrTitle"/>
          </p:nvPr>
        </p:nvSpPr>
        <p:spPr>
          <a:xfrm>
            <a:off x="509000" y="1010133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Distribution of records means - the percentage of a record occupied in the total record set.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Cumulative distribution means , the cumulative percentage of records from first to current row  is calculated out of total result. 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3" name="Google Shape;433;p4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CUME_DIST() - Cumulative distribution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4" name="Google Shape;434;p48"/>
          <p:cNvSpPr txBox="1"/>
          <p:nvPr>
            <p:ph type="ctrTitle"/>
          </p:nvPr>
        </p:nvSpPr>
        <p:spPr>
          <a:xfrm>
            <a:off x="564700" y="2187800"/>
            <a:ext cx="7038400" cy="26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Select Acct_Num,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CUME_DIST()  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OVER( order by Balance ) AS cum_distribution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FROM  ACCOUNT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acct_type = 'FIXED DEPOSITS';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48"/>
          <p:cNvSpPr txBox="1"/>
          <p:nvPr>
            <p:ph type="ctrTitle"/>
          </p:nvPr>
        </p:nvSpPr>
        <p:spPr>
          <a:xfrm>
            <a:off x="450000" y="5244900"/>
            <a:ext cx="5583200" cy="1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the first record has occupied 25% , and the 2nd and 3rd record values are same.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Hence it displays 75% for both the records .  Otherwise 2nd record is displayed as 50%.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36" name="Google Shape;43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249" y="5244900"/>
            <a:ext cx="6145683" cy="13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 txBox="1"/>
          <p:nvPr>
            <p:ph type="ctrTitle"/>
          </p:nvPr>
        </p:nvSpPr>
        <p:spPr>
          <a:xfrm>
            <a:off x="509000" y="1010133"/>
            <a:ext cx="10581600" cy="12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Cumulative distribution means , the cumulative percentage of records from first to current row  is calculated in a partitioned result set. 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CUME_DIST() - Cumulative distribution for partitions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43" name="Google Shape;443;p49"/>
          <p:cNvSpPr txBox="1"/>
          <p:nvPr>
            <p:ph type="ctrTitle"/>
          </p:nvPr>
        </p:nvSpPr>
        <p:spPr>
          <a:xfrm>
            <a:off x="564700" y="2187800"/>
            <a:ext cx="10390400" cy="26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E.g: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Select Acct_Num,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Acct_Type,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Balance AS original_balance,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   CUME_DIST()  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OVER( partition by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ACCT_TYPE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       order by Balance ) AS Part_Cume_dist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FROM  ACCOUNT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WHERE balance &gt; 0;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4" name="Google Shape;444;p49"/>
          <p:cNvSpPr txBox="1"/>
          <p:nvPr>
            <p:ph type="ctrTitle"/>
          </p:nvPr>
        </p:nvSpPr>
        <p:spPr>
          <a:xfrm>
            <a:off x="450000" y="5244900"/>
            <a:ext cx="5500400" cy="13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Here, cumulative distribution is calculated for each partition : FIXED DEPOSIT and SAVINGS.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45" name="Google Shape;4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501" y="4218068"/>
            <a:ext cx="5713033" cy="2384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>
            <p:ph type="ctrTitle"/>
          </p:nvPr>
        </p:nvSpPr>
        <p:spPr>
          <a:xfrm>
            <a:off x="501167" y="1958100"/>
            <a:ext cx="10871200" cy="12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Grouping functions can be used by Window functions to retrieve aggregate results and compare against each of the rows in a group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1" name="Google Shape;451;p50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Aggregate Functions with Window Functions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2" name="Google Shape;452;p50"/>
          <p:cNvSpPr txBox="1"/>
          <p:nvPr/>
        </p:nvSpPr>
        <p:spPr>
          <a:xfrm>
            <a:off x="1173700" y="3279400"/>
            <a:ext cx="10198800" cy="226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Cust_Id, Acct_Num, Acct_Type, Balance,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(Balance)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OVER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partition by Cust_Id )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customer_level_balance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ACCOUNT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CUST_ID in ( 123001, 123002 , 123004)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/>
          <p:nvPr>
            <p:ph type="ctrTitle"/>
          </p:nvPr>
        </p:nvSpPr>
        <p:spPr>
          <a:xfrm>
            <a:off x="564700" y="4897933"/>
            <a:ext cx="10914000" cy="17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this example, SUM is grouping function calculates aggregate sum of balance for each Cust_Id. This aggregate SUM result is displayed for each row and is useful for further analytics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8" name="Google Shape;458;p51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Aggregate Functions with Window Functions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59" name="Google Shape;45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5932" y="2554500"/>
            <a:ext cx="5612200" cy="221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0" name="Google Shape;460;p51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type="ctrTitle"/>
          </p:nvPr>
        </p:nvSpPr>
        <p:spPr>
          <a:xfrm>
            <a:off x="920833" y="1760533"/>
            <a:ext cx="10837200" cy="350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Similarly other grouping functions like below can be used along with analytical functions: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AVG()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MIN()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1219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1" marL="1219170" rtl="0" algn="l">
              <a:spcBef>
                <a:spcPts val="0"/>
              </a:spcBef>
              <a:spcAft>
                <a:spcPts val="0"/>
              </a:spcAft>
              <a:buSzPts val="1600"/>
              <a:buFont typeface="Avenir"/>
              <a:buChar char="○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MAX()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6" name="Google Shape;466;p52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Aggregate Functions with Window Functions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"/>
          <p:cNvSpPr txBox="1"/>
          <p:nvPr>
            <p:ph type="ctrTitle"/>
          </p:nvPr>
        </p:nvSpPr>
        <p:spPr>
          <a:xfrm>
            <a:off x="1295133" y="2006333"/>
            <a:ext cx="9746000" cy="36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400">
                <a:latin typeface="Trebuchet MS"/>
                <a:ea typeface="Trebuchet MS"/>
                <a:cs typeface="Trebuchet MS"/>
                <a:sym typeface="Trebuchet MS"/>
              </a:rPr>
              <a:t>Analytical functions are widely used in organizations ,because it reduces the number of calls to the same table. Especially when there is a need for SELF Join</a:t>
            </a:r>
            <a:endParaRPr i="1"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i="1"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400">
                <a:latin typeface="Trebuchet MS"/>
                <a:ea typeface="Trebuchet MS"/>
                <a:cs typeface="Trebuchet MS"/>
                <a:sym typeface="Trebuchet MS"/>
              </a:rPr>
              <a:t>The performance of the Query is high because it consumes less CPU utilization for mapping of rows between tables. However, it depends on the business logic</a:t>
            </a:r>
            <a:endParaRPr i="1"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i="1"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rebuchet MS"/>
              <a:buNone/>
            </a:pPr>
            <a:r>
              <a:rPr i="1" lang="en-GB" sz="2400">
                <a:latin typeface="Trebuchet MS"/>
                <a:ea typeface="Trebuchet MS"/>
                <a:cs typeface="Trebuchet MS"/>
                <a:sym typeface="Trebuchet MS"/>
              </a:rPr>
              <a:t>Cumulative calculations are also performed in GROUP by clauses, but it is difficult move across the rows among the group</a:t>
            </a:r>
            <a:endParaRPr i="1"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72" name="Google Shape;4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400" y="273700"/>
            <a:ext cx="2251733" cy="8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4"/>
          <p:cNvSpPr txBox="1"/>
          <p:nvPr>
            <p:ph type="ctrTitle"/>
          </p:nvPr>
        </p:nvSpPr>
        <p:spPr>
          <a:xfrm>
            <a:off x="415600" y="2922767"/>
            <a:ext cx="11360800" cy="10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Font typeface="Avenir"/>
              <a:buNone/>
            </a:pPr>
            <a:r>
              <a:rPr lang="en-GB" sz="5333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Cross-Tab and Relational Tables</a:t>
            </a:r>
            <a:endParaRPr sz="5333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5"/>
          <p:cNvSpPr txBox="1"/>
          <p:nvPr>
            <p:ph type="ctrTitle"/>
          </p:nvPr>
        </p:nvSpPr>
        <p:spPr>
          <a:xfrm>
            <a:off x="512700" y="1904500"/>
            <a:ext cx="11242000" cy="39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Cross tabulation of relational database  displays the columns as rows and rows as columns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Hence cross - table is multi-dimensional structure of rows and columns which can pivot the rows vertically and columns horizontally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This kind of multi - dimensional structured / cross table displays strategic reports with summarized data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3" name="Google Shape;483;p55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Cross-Tab and Relational Tables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6"/>
          <p:cNvSpPr txBox="1"/>
          <p:nvPr>
            <p:ph type="ctrTitle"/>
          </p:nvPr>
        </p:nvSpPr>
        <p:spPr>
          <a:xfrm>
            <a:off x="512700" y="2045033"/>
            <a:ext cx="11242000" cy="3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cross table can display grand totals for columns, rows, or for the whole measure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It can also display subtotals for columns, or show images on the horizontal or vertical axis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89" name="Google Shape;489;p56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Cross-Tab and Relational Tables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 txBox="1"/>
          <p:nvPr>
            <p:ph type="ctrTitle"/>
          </p:nvPr>
        </p:nvSpPr>
        <p:spPr>
          <a:xfrm>
            <a:off x="489667" y="1904733"/>
            <a:ext cx="115652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Cross - tabular calculation is the form presenting the count of transactions in a tabular form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Especially, it is used for developing trend reports with aggregate reports</a:t>
            </a:r>
            <a:endParaRPr sz="16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6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95" name="Google Shape;495;p57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Cross-Tab and Relational Tables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96" name="Google Shape;496;p57"/>
          <p:cNvSpPr txBox="1"/>
          <p:nvPr/>
        </p:nvSpPr>
        <p:spPr>
          <a:xfrm>
            <a:off x="966567" y="3724267"/>
            <a:ext cx="10535200" cy="2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monthname(T.Tran_Date) as "Month",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T.Channel= 'ATM Withdrawal' THEN 1 END) ATM_transaction,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 = 'UPI transfer' THEN 1 END) UPI_transaction,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 = 'Net banking' THEN 1 END) net_banking,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 = 'Bankers cheque' THEN 1 END) bankers_cheque,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 = 'ECS transfer' THEN 1 END) ECS_transfer,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count(case when T.Channel = 'Cash Deposit' THEN 1 END) Cash_deposit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 T</a:t>
            </a:r>
            <a:endParaRPr sz="1733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BY </a:t>
            </a:r>
            <a:r>
              <a:rPr lang="en-GB" sz="1733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month(T.Tran_Date)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 txBox="1"/>
          <p:nvPr>
            <p:ph type="ctrTitle"/>
          </p:nvPr>
        </p:nvSpPr>
        <p:spPr>
          <a:xfrm>
            <a:off x="478167" y="4553600"/>
            <a:ext cx="10959200" cy="14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In this example, bank is measuring the total number of transactions done through each channel in various months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2" name="Google Shape;502;p58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Cross-Tab and Relational Tables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3" name="Google Shape;503;p58"/>
          <p:cNvSpPr txBox="1"/>
          <p:nvPr>
            <p:ph type="ctrTitle"/>
          </p:nvPr>
        </p:nvSpPr>
        <p:spPr>
          <a:xfrm>
            <a:off x="671033" y="2323667"/>
            <a:ext cx="10766400" cy="4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1867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1867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04" name="Google Shape;50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451" y="2839434"/>
            <a:ext cx="9161100" cy="13823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 txBox="1"/>
          <p:nvPr>
            <p:ph type="ctrTitle"/>
          </p:nvPr>
        </p:nvSpPr>
        <p:spPr>
          <a:xfrm>
            <a:off x="415600" y="2922767"/>
            <a:ext cx="11360800" cy="101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Font typeface="Avenir"/>
              <a:buNone/>
            </a:pPr>
            <a:r>
              <a:rPr lang="en-GB" sz="5333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Recursive Query Expression</a:t>
            </a:r>
            <a:endParaRPr sz="5333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/>
          <p:nvPr>
            <p:ph type="ctrTitle"/>
          </p:nvPr>
        </p:nvSpPr>
        <p:spPr>
          <a:xfrm>
            <a:off x="501167" y="1549500"/>
            <a:ext cx="11200000" cy="51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To report hierarchical structured data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recursive queries follows a chain process of identifying the relationships between the relevant columns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query expression is defined with a sub - query using RECURSIVE clause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This query iterates between main query and the sub-query with predefined number of times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There should be a terminating condition to recursive expression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5" name="Google Shape;515;p60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Recursive Query Expressions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>
            <p:ph type="ctrTitle"/>
          </p:nvPr>
        </p:nvSpPr>
        <p:spPr>
          <a:xfrm>
            <a:off x="788833" y="5900967"/>
            <a:ext cx="10904800" cy="9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Generate the report showing hierarchical family relationship between the customers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1" name="Google Shape;521;p61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Recursive Query Expressions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2" name="Google Shape;522;p61"/>
          <p:cNvSpPr txBox="1"/>
          <p:nvPr/>
        </p:nvSpPr>
        <p:spPr>
          <a:xfrm>
            <a:off x="512700" y="1578267"/>
            <a:ext cx="7832000" cy="5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402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Char char="●"/>
            </a:pP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Create following </a:t>
            </a:r>
            <a:r>
              <a:rPr lang="en-GB" sz="2133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</a:t>
            </a:r>
            <a:r>
              <a:rPr lang="en-GB" sz="2133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able for this exercise</a:t>
            </a:r>
            <a:endParaRPr sz="2133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3" name="Google Shape;523;p61"/>
          <p:cNvSpPr txBox="1"/>
          <p:nvPr/>
        </p:nvSpPr>
        <p:spPr>
          <a:xfrm>
            <a:off x="1564900" y="2144267"/>
            <a:ext cx="8279600" cy="386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CUSTOMER_HOUSEHOLD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Cust_Id INT, NAME VARCHAR(20), PARENT_NAME VARCHAR(20));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CUSTOMER_HOUSEHOLD </a:t>
            </a:r>
            <a:r>
              <a:rPr b="1"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(123000,  'GEFF', NULL  ), 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(123001, 'MARK', 'GEFF' ), 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(123002, 'CHARLIE' , 'MARK' ) 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(123003, 'CRISTY' , 'MARK' ) 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(123004, 'SARAH', 'GEFF' ),  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(123005, 'ROBERT' , 'SARAH') ,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(123006, 'ANDY' , 'SARAH') 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2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Recursive Query Expressions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9" name="Google Shape;529;p62"/>
          <p:cNvSpPr txBox="1"/>
          <p:nvPr>
            <p:ph type="ctrTitle"/>
          </p:nvPr>
        </p:nvSpPr>
        <p:spPr>
          <a:xfrm>
            <a:off x="501167" y="2428167"/>
            <a:ext cx="10924400" cy="311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WITH RECURSIVE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Family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( NAME, PARENT_NAME,  Hierarchy) AS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(SELECT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Name, Parent_name, CAST(Name AS CHAR(200))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CUSTOMER_HOUSEHOLD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Parent_Name IS NULL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UNION ALL </a:t>
            </a:r>
            <a:endParaRPr b="1"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ch.Name, ch.Parent_Name, CONCAT(cf.Hierarchy, ",", ch.name)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Family cf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JOIN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CUSTOMER_HOUSEHOLD ch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ON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cf.name = ch.parent_name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ourier New"/>
              <a:buNone/>
            </a:pP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Family </a:t>
            </a:r>
            <a:r>
              <a:rPr b="1" lang="en-GB" sz="1867"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-GB" sz="1867">
                <a:latin typeface="Courier New"/>
                <a:ea typeface="Courier New"/>
                <a:cs typeface="Courier New"/>
                <a:sym typeface="Courier New"/>
              </a:rPr>
              <a:t> Hierarchy;</a:t>
            </a:r>
            <a:endParaRPr sz="1867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/>
          <p:nvPr>
            <p:ph type="ctrTitle"/>
          </p:nvPr>
        </p:nvSpPr>
        <p:spPr>
          <a:xfrm>
            <a:off x="4896733" y="1979167"/>
            <a:ext cx="7034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WITH RECURSIVE is the clause 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 query expression is defined with a sub - query using RECURSIVE clause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This query iterates between main query and the sub-query with predefined number of times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Calibri"/>
              <a:buNone/>
            </a:pPr>
            <a:r>
              <a:t/>
            </a:r>
            <a:endParaRPr sz="2133">
              <a:latin typeface="Avenir"/>
              <a:ea typeface="Avenir"/>
              <a:cs typeface="Avenir"/>
              <a:sym typeface="Avenir"/>
            </a:endParaRPr>
          </a:p>
          <a:p>
            <a:pPr indent="-440255" lvl="0" marL="609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There should be a terminating condition to recursive expression</a:t>
            </a:r>
            <a:endParaRPr sz="2133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5" name="Google Shape;535;p63"/>
          <p:cNvSpPr txBox="1"/>
          <p:nvPr/>
        </p:nvSpPr>
        <p:spPr>
          <a:xfrm>
            <a:off x="564700" y="187833"/>
            <a:ext cx="102800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Recursive Query Expressions</a:t>
            </a:r>
            <a:endParaRPr sz="32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36" name="Google Shape;5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467" y="3196300"/>
            <a:ext cx="3755500" cy="19613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7" name="Google Shape;537;p63"/>
          <p:cNvSpPr txBox="1"/>
          <p:nvPr>
            <p:ph type="ctrTitle"/>
          </p:nvPr>
        </p:nvSpPr>
        <p:spPr>
          <a:xfrm>
            <a:off x="720400" y="1960067"/>
            <a:ext cx="1825200" cy="6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venir"/>
              <a:buNone/>
            </a:pPr>
            <a:r>
              <a:rPr lang="en-GB" sz="2133">
                <a:latin typeface="Avenir"/>
                <a:ea typeface="Avenir"/>
                <a:cs typeface="Avenir"/>
                <a:sym typeface="Avenir"/>
              </a:rPr>
              <a:t>Output:</a:t>
            </a:r>
            <a:endParaRPr sz="2133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4"/>
          <p:cNvSpPr txBox="1"/>
          <p:nvPr/>
        </p:nvSpPr>
        <p:spPr>
          <a:xfrm>
            <a:off x="508000" y="2685933"/>
            <a:ext cx="10261600" cy="1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6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7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4"/>
          <p:cNvSpPr/>
          <p:nvPr/>
        </p:nvSpPr>
        <p:spPr>
          <a:xfrm>
            <a:off x="0" y="0"/>
            <a:ext cx="508000" cy="9144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4"/>
          <p:cNvSpPr/>
          <p:nvPr/>
        </p:nvSpPr>
        <p:spPr>
          <a:xfrm>
            <a:off x="0" y="914400"/>
            <a:ext cx="508000" cy="9144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0" y="137767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2020-07-28T11:22:46Z</dcterms:created>
  <dc:creator>Deepali Gatade</dc:creator>
</cp:coreProperties>
</file>