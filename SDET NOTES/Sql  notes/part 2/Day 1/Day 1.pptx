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87" roundtripDataSignature="AMtx7mjNsrtuoNYKxTASj/sHW2tD9HVL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1DE3CB-5B37-46FD-8ADA-DCDCFB46D0A9}">
  <a:tblStyle styleId="{221DE3CB-5B37-46FD-8ADA-DCDCFB46D0A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87" Type="http://customschemas.google.com/relationships/presentationmetadata" Target="meta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9cc58765a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9cc58765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2" name="Google Shape;262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1" name="Google Shape;461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99" name="Google Shape;499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55" name="Google Shape;555;p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04" name="Google Shape;604;p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53" name="Google Shape;653;p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01" name="Google Shape;701;p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92" name="Google Shape;792;p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" name="Google Shape;828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39" name="Google Shape;839;p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5" name="Google Shape;865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6" name="Google Shape;866;p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esign">
  <p:cSld name="2_Desig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8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9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9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9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9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513633" y="2691500"/>
            <a:ext cx="115288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0" u="none" cap="none" strike="noStrike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Subqueries</a:t>
            </a:r>
            <a:r>
              <a:rPr b="1" i="0" lang="en-GB" sz="6000" u="none" cap="none" strike="noStrike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b="0" i="0" lang="en-GB" sz="6000" u="none" cap="none" strike="noStrike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&amp; Query Expressions</a:t>
            </a:r>
            <a:endParaRPr sz="60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9cc58765ae_0_0"/>
          <p:cNvSpPr/>
          <p:nvPr/>
        </p:nvSpPr>
        <p:spPr>
          <a:xfrm>
            <a:off x="0" y="0"/>
            <a:ext cx="5079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9cc58765ae_0_0"/>
          <p:cNvSpPr/>
          <p:nvPr/>
        </p:nvSpPr>
        <p:spPr>
          <a:xfrm>
            <a:off x="0" y="914400"/>
            <a:ext cx="5079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9cc58765ae_0_0"/>
          <p:cNvSpPr txBox="1"/>
          <p:nvPr/>
        </p:nvSpPr>
        <p:spPr>
          <a:xfrm>
            <a:off x="569200" y="2745933"/>
            <a:ext cx="52815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2133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1" name="Google Shape;101;g9cc58765ae_0_0"/>
          <p:cNvSpPr txBox="1"/>
          <p:nvPr/>
        </p:nvSpPr>
        <p:spPr>
          <a:xfrm>
            <a:off x="770075" y="1356975"/>
            <a:ext cx="10835400" cy="50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6512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50"/>
              <a:buChar char="●"/>
            </a:pPr>
            <a:r>
              <a:rPr lang="en-GB" sz="2150">
                <a:solidFill>
                  <a:srgbClr val="222222"/>
                </a:solidFill>
              </a:rPr>
              <a:t>Introduction to Subquery</a:t>
            </a:r>
            <a:endParaRPr sz="2150">
              <a:solidFill>
                <a:srgbClr val="222222"/>
              </a:solidFill>
            </a:endParaRPr>
          </a:p>
          <a:p>
            <a:pPr indent="-36512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50"/>
              <a:buChar char="●"/>
            </a:pPr>
            <a:r>
              <a:rPr lang="en-GB" sz="2150">
                <a:solidFill>
                  <a:srgbClr val="222222"/>
                </a:solidFill>
              </a:rPr>
              <a:t>Properties and benefits</a:t>
            </a:r>
            <a:endParaRPr sz="2150">
              <a:solidFill>
                <a:srgbClr val="222222"/>
              </a:solidFill>
            </a:endParaRPr>
          </a:p>
          <a:p>
            <a:pPr indent="-36512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50"/>
              <a:buChar char="●"/>
            </a:pPr>
            <a:r>
              <a:rPr lang="en-GB" sz="2150">
                <a:solidFill>
                  <a:srgbClr val="222222"/>
                </a:solidFill>
              </a:rPr>
              <a:t>Subquery using</a:t>
            </a:r>
            <a:endParaRPr sz="2150">
              <a:solidFill>
                <a:srgbClr val="222222"/>
              </a:solidFill>
            </a:endParaRPr>
          </a:p>
          <a:p>
            <a:pPr indent="-36512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50"/>
              <a:buChar char="-"/>
            </a:pPr>
            <a:r>
              <a:rPr lang="en-GB" sz="2150">
                <a:solidFill>
                  <a:srgbClr val="222222"/>
                </a:solidFill>
              </a:rPr>
              <a:t>where clause</a:t>
            </a:r>
            <a:endParaRPr sz="2150">
              <a:solidFill>
                <a:srgbClr val="222222"/>
              </a:solidFill>
            </a:endParaRPr>
          </a:p>
          <a:p>
            <a:pPr indent="-36512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50"/>
              <a:buChar char="-"/>
            </a:pPr>
            <a:r>
              <a:rPr lang="en-GB" sz="2150">
                <a:solidFill>
                  <a:srgbClr val="222222"/>
                </a:solidFill>
              </a:rPr>
              <a:t>Outer reference</a:t>
            </a:r>
            <a:endParaRPr sz="2150">
              <a:solidFill>
                <a:srgbClr val="222222"/>
              </a:solidFill>
            </a:endParaRPr>
          </a:p>
          <a:p>
            <a:pPr indent="-36512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50"/>
              <a:buChar char="-"/>
            </a:pPr>
            <a:r>
              <a:rPr lang="en-GB" sz="2150">
                <a:solidFill>
                  <a:srgbClr val="222222"/>
                </a:solidFill>
              </a:rPr>
              <a:t>Existence &amp; Quantified Test</a:t>
            </a:r>
            <a:endParaRPr sz="2150">
              <a:solidFill>
                <a:srgbClr val="222222"/>
              </a:solidFill>
            </a:endParaRPr>
          </a:p>
          <a:p>
            <a:pPr indent="-36512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50"/>
              <a:buChar char="-"/>
            </a:pPr>
            <a:r>
              <a:rPr lang="en-GB" sz="2150">
                <a:solidFill>
                  <a:srgbClr val="222222"/>
                </a:solidFill>
              </a:rPr>
              <a:t>From Clause</a:t>
            </a:r>
            <a:endParaRPr sz="2150">
              <a:solidFill>
                <a:srgbClr val="222222"/>
              </a:solidFill>
            </a:endParaRPr>
          </a:p>
          <a:p>
            <a:pPr indent="-36512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50"/>
              <a:buChar char="●"/>
            </a:pPr>
            <a:r>
              <a:rPr lang="en-GB" sz="2150">
                <a:solidFill>
                  <a:srgbClr val="222222"/>
                </a:solidFill>
              </a:rPr>
              <a:t>Nested Subqueries</a:t>
            </a:r>
            <a:endParaRPr sz="2150">
              <a:solidFill>
                <a:srgbClr val="222222"/>
              </a:solidFill>
            </a:endParaRPr>
          </a:p>
          <a:p>
            <a:pPr indent="0" lvl="0" marL="0" marR="0" rtl="0" algn="just">
              <a:spcBef>
                <a:spcPts val="2667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02" name="Google Shape;102;g9cc58765a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9cc58765ae_0_0"/>
          <p:cNvSpPr txBox="1"/>
          <p:nvPr/>
        </p:nvSpPr>
        <p:spPr>
          <a:xfrm>
            <a:off x="591747" y="105000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5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Agenda </a:t>
            </a:r>
            <a:endParaRPr b="1" sz="45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569200" y="2745933"/>
            <a:ext cx="5281600" cy="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2133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591747" y="105000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E-R Diagram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13" name="Google Shape;11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7101" y="2137067"/>
            <a:ext cx="7321633" cy="3943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69200" y="2745933"/>
            <a:ext cx="5281600" cy="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2133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 txBox="1"/>
          <p:nvPr/>
        </p:nvSpPr>
        <p:spPr>
          <a:xfrm>
            <a:off x="591747" y="105000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E-R Diagram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123" name="Google Shape;123;p3"/>
          <p:cNvGraphicFramePr/>
          <p:nvPr/>
        </p:nvGraphicFramePr>
        <p:xfrm>
          <a:off x="874547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{221DE3CB-5B37-46FD-8ADA-DCDCFB46D0A9}</a:tableStyleId>
              </a:tblPr>
              <a:tblGrid>
                <a:gridCol w="1834900"/>
                <a:gridCol w="1943300"/>
                <a:gridCol w="5873800"/>
              </a:tblGrid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b="1"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Table</a:t>
                      </a:r>
                      <a:endParaRPr b="1"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b="1"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Columns</a:t>
                      </a:r>
                      <a:endParaRPr b="1"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b="1"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Description</a:t>
                      </a:r>
                      <a:endParaRPr b="1"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>
                    <a:solidFill>
                      <a:srgbClr val="D9D9D9"/>
                    </a:solidFill>
                  </a:tcPr>
                </a:tc>
              </a:tr>
              <a:tr h="207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INVENTORY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Product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Bank has products which are purchased from vendor and selling them to customers.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b="1"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Products : </a:t>
                      </a: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Plastic visa debit/credit cards . 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Quantity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Quantity purchased from Vendor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  <a:tr h="97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Purchase _cost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Purchase cost of product from vendor 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Month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Month during which inventory maintained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569200" y="2745933"/>
            <a:ext cx="5281600" cy="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2133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591747" y="105000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E-R Diagram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133" name="Google Shape;133;p4"/>
          <p:cNvGraphicFramePr/>
          <p:nvPr/>
        </p:nvGraphicFramePr>
        <p:xfrm>
          <a:off x="733147" y="1371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{221DE3CB-5B37-46FD-8ADA-DCDCFB46D0A9}</a:tableStyleId>
              </a:tblPr>
              <a:tblGrid>
                <a:gridCol w="2101500"/>
                <a:gridCol w="2142300"/>
                <a:gridCol w="5408200"/>
              </a:tblGrid>
              <a:tr h="59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b="1"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Table</a:t>
                      </a:r>
                      <a:endParaRPr b="1"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b="1"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Columns</a:t>
                      </a:r>
                      <a:endParaRPr b="1"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b="1"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Description</a:t>
                      </a:r>
                      <a:endParaRPr b="1"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>
                    <a:solidFill>
                      <a:srgbClr val="D9D9D9"/>
                    </a:solidFill>
                  </a:tcPr>
                </a:tc>
              </a:tr>
              <a:tr h="65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PROFIT_LOSS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Branch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Bank has branches across different locations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  <a:tr h="59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Banker 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Salesperson who is said to be banker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  <a:tr h="83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Product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Product details maintained with </a:t>
                      </a:r>
                      <a:r>
                        <a:rPr i="1"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banker </a:t>
                      </a: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at different branches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  <a:tr h="11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Cost 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Cost  includes purchase cost + service charges + maintenance charges of the product at branch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  <a:tr h="57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Revenue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Revenue generated from selling the product 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  <a:tr h="9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Estimated_Profit 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Estimated Profit is expected but it may not be the  actual calculated profit.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569200" y="2745933"/>
            <a:ext cx="5281600" cy="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2133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/>
          <p:nvPr/>
        </p:nvSpPr>
        <p:spPr>
          <a:xfrm>
            <a:off x="591747" y="105000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E-R Diagram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569200" y="3194333"/>
            <a:ext cx="111548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2667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All these tables can be found in the ‘module 7 tables.sql’ and would be required for this session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569200" y="2745933"/>
            <a:ext cx="5281600" cy="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2133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508000" y="1896067"/>
            <a:ext cx="11097600" cy="44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A </a:t>
            </a:r>
            <a:r>
              <a:rPr i="1"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select </a:t>
            </a: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query when it is nested in another main query, then it is called as a subquery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2667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Like joins, subqueries need common key columns for joining with main queries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2667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Subqueries are otherwise called as virtual table enclosed with an independent business logic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2667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Subqueries  execute independently and share its results with the main query, so that the complexity reduces while writing the queries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/>
        </p:nvSpPr>
        <p:spPr>
          <a:xfrm>
            <a:off x="591747" y="105000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569200" y="2745933"/>
            <a:ext cx="5281600" cy="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2133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508000" y="1221567"/>
            <a:ext cx="113620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Subqueries are of different types and can be used in different ways according to business logic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 txBox="1"/>
          <p:nvPr/>
        </p:nvSpPr>
        <p:spPr>
          <a:xfrm>
            <a:off x="591747" y="105000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164" name="Google Shape;164;p7"/>
          <p:cNvGraphicFramePr/>
          <p:nvPr/>
        </p:nvGraphicFramePr>
        <p:xfrm>
          <a:off x="1117600" y="24407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{221DE3CB-5B37-46FD-8ADA-DCDCFB46D0A9}</a:tableStyleId>
              </a:tblPr>
              <a:tblGrid>
                <a:gridCol w="3134825"/>
                <a:gridCol w="7392300"/>
              </a:tblGrid>
              <a:tr h="521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Type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Properties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>
                    <a:solidFill>
                      <a:srgbClr val="D9D9D9"/>
                    </a:solidFill>
                  </a:tcPr>
                </a:tc>
              </a:tr>
              <a:tr h="62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Single Row Subquery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Returns a single value and feeds to main query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  <a:tr h="54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Multiple Row Subquery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Returns  more number of rows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  <a:tr h="81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Multiple Column Subquery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Returns one or more columns results which matches with outer query columns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  <a:tr h="81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Correlated Subquery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the subquery is dependent on outer query for retrieving each record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  <a:tr h="92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venir"/>
                        <a:buNone/>
                      </a:pPr>
                      <a:r>
                        <a:rPr lang="en-GB" sz="20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Nested Subquery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Subqueries are placed within another subquery. It is called as nesting</a:t>
                      </a:r>
                      <a:endParaRPr sz="20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569200" y="2745933"/>
            <a:ext cx="5281600" cy="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2133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508000" y="1887100"/>
            <a:ext cx="11177600" cy="45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Subquery separates the complex business logic from the main query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It is easy to debug an individual subquery instead of large and complex main query where more tables and columns are used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Subqueries improve the performance when they are used in a better way</a:t>
            </a:r>
            <a:endParaRPr sz="2133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Subqueries can be written anywhere in the SELECT clause, FROM clause and WHERE clause of another SQL query, however, the constraints of clauses are applied while using subqueries  </a:t>
            </a:r>
            <a:endParaRPr sz="2133">
              <a:solidFill>
                <a:srgbClr val="222222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73" name="Google Shape;1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8"/>
          <p:cNvSpPr txBox="1"/>
          <p:nvPr/>
        </p:nvSpPr>
        <p:spPr>
          <a:xfrm>
            <a:off x="591747" y="105000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- Benefits 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/>
          <p:nvPr/>
        </p:nvSpPr>
        <p:spPr>
          <a:xfrm>
            <a:off x="513633" y="2894700"/>
            <a:ext cx="112064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Subqueries in Where Clause</a:t>
            </a:r>
            <a:endParaRPr sz="60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508000" y="2388600"/>
            <a:ext cx="10927200" cy="2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Subqueries can be written in WHERE clause of another query by using </a:t>
            </a:r>
            <a:r>
              <a:rPr i="1"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multi-row operators </a:t>
            </a: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including EXISTS, IN , ANY and ALL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They can also use single-row comparison operators including  &lt;, &gt;, = 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91" name="Google Shape;1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0"/>
          <p:cNvSpPr txBox="1"/>
          <p:nvPr/>
        </p:nvSpPr>
        <p:spPr>
          <a:xfrm>
            <a:off x="591747" y="105000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in Where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882000" y="2577500"/>
            <a:ext cx="10428000" cy="20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67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Multi-row operators perform comparison operations on multiple rows returned by subquery</a:t>
            </a:r>
            <a:endParaRPr i="1" sz="2267">
              <a:solidFill>
                <a:srgbClr val="22222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2667"/>
              </a:spcBef>
              <a:spcAft>
                <a:spcPts val="0"/>
              </a:spcAft>
              <a:buNone/>
            </a:pPr>
            <a:r>
              <a:rPr i="1" lang="en-GB" sz="2267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Single-row operators perform comparison operations on single row returned by subquery</a:t>
            </a:r>
            <a:endParaRPr/>
          </a:p>
          <a:p>
            <a:pPr indent="0" lvl="0" marL="0" marR="0" rtl="0" algn="just">
              <a:spcBef>
                <a:spcPts val="5334"/>
              </a:spcBef>
              <a:spcAft>
                <a:spcPts val="0"/>
              </a:spcAft>
              <a:buNone/>
            </a:pPr>
            <a:r>
              <a:t/>
            </a:r>
            <a:endParaRPr i="1" sz="2667">
              <a:solidFill>
                <a:schemeClr val="dk1"/>
              </a:solidFill>
              <a:highlight>
                <a:srgbClr val="FFFF00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5334"/>
              </a:spcBef>
              <a:spcAft>
                <a:spcPts val="2667"/>
              </a:spcAft>
              <a:buNone/>
            </a:pPr>
            <a:r>
              <a:t/>
            </a:r>
            <a:endParaRPr i="1" sz="2667">
              <a:solidFill>
                <a:schemeClr val="dk1"/>
              </a:solidFill>
              <a:highlight>
                <a:srgbClr val="FFFF00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0" name="Google Shape;2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1"/>
          <p:cNvPicPr preferRelativeResize="0"/>
          <p:nvPr/>
        </p:nvPicPr>
        <p:blipFill rotWithShape="1">
          <a:blip r:embed="rId4">
            <a:alphaModFix/>
          </a:blip>
          <a:srcRect b="4688" l="11594" r="10692" t="4094"/>
          <a:stretch/>
        </p:blipFill>
        <p:spPr>
          <a:xfrm>
            <a:off x="577867" y="248134"/>
            <a:ext cx="1638700" cy="1409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531000" y="1920238"/>
            <a:ext cx="11130000" cy="403633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 operator is well used when the main query searches all of the multiple rows returned by subquery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2667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2667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Here in the example, the sub-query of Transaction is independently executed first and then return the results to main ACCOUNT query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2667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2667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Later, the main ACCOUNT query searches all of the rows returned from subquery to check  if any transactions are done via ATM machines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09" name="Google Shape;2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2"/>
          <p:cNvSpPr txBox="1"/>
          <p:nvPr/>
        </p:nvSpPr>
        <p:spPr>
          <a:xfrm>
            <a:off x="591747" y="105000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Subqueries in Where Clause - Syntax using IN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 txBox="1"/>
          <p:nvPr/>
        </p:nvSpPr>
        <p:spPr>
          <a:xfrm>
            <a:off x="508000" y="2066833"/>
            <a:ext cx="6725200" cy="297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A.Acct_Num,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A.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Balance,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      A.</a:t>
            </a:r>
            <a:r>
              <a:rPr lang="en-GB" sz="16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Acct_type,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       A.Acct_status</a:t>
            </a:r>
            <a:endParaRPr sz="1733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ACCOUNT A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Where  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.Acct_Num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endParaRPr b="1" sz="1733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1917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T.Acct_Num </a:t>
            </a:r>
            <a:endParaRPr sz="1733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FROM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TRANSACTION T </a:t>
            </a:r>
            <a:endParaRPr sz="1733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WHERE T.</a:t>
            </a:r>
            <a:r>
              <a:rPr lang="en-GB" sz="16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Channel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GB" sz="16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'ATM withdrawal'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8" name="Google Shape;21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3"/>
          <p:cNvSpPr txBox="1"/>
          <p:nvPr/>
        </p:nvSpPr>
        <p:spPr>
          <a:xfrm>
            <a:off x="7490400" y="3141400"/>
            <a:ext cx="4498400" cy="5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2667"/>
              </a:spcAft>
              <a:buNone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*Account and Transaction Tables are the one used from previous session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785" y="5404334"/>
            <a:ext cx="4559300" cy="876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1" name="Google Shape;221;p13"/>
          <p:cNvSpPr txBox="1"/>
          <p:nvPr/>
        </p:nvSpPr>
        <p:spPr>
          <a:xfrm>
            <a:off x="591747" y="105000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Subqueries in Where Clause - Syntax using IN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/>
          <p:nvPr/>
        </p:nvSpPr>
        <p:spPr>
          <a:xfrm>
            <a:off x="513633" y="2691500"/>
            <a:ext cx="7684800" cy="1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Outer References</a:t>
            </a:r>
            <a:endParaRPr sz="6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6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508000" y="2122100"/>
            <a:ext cx="10820800" cy="4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 Sub-query is executed independently and reference its records as a derived table in the FROM clause of a Main Query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It is beneficial in many ways instead of using full table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○"/>
            </a:pPr>
            <a:r>
              <a:rPr b="0" i="1" lang="en-GB" sz="2133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Only Selected rows and columns  are used in the FROM clause</a:t>
            </a:r>
            <a:endParaRPr b="0" i="1" sz="2133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marR="0" rtl="0" algn="just">
              <a:spcBef>
                <a:spcPts val="2667"/>
              </a:spcBef>
              <a:spcAft>
                <a:spcPts val="0"/>
              </a:spcAft>
              <a:buNone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	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Subqueries divides the complex logic from the main Query in the FROM clause</a:t>
            </a:r>
            <a:endParaRPr b="0" i="0" sz="2133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38" name="Google Shape;2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/>
          <p:cNvSpPr txBox="1"/>
          <p:nvPr/>
        </p:nvSpPr>
        <p:spPr>
          <a:xfrm>
            <a:off x="591747" y="105000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Outer References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6"/>
          <p:cNvSpPr txBox="1"/>
          <p:nvPr/>
        </p:nvSpPr>
        <p:spPr>
          <a:xfrm>
            <a:off x="609600" y="1624200"/>
            <a:ext cx="10972800" cy="47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23323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venir"/>
              <a:buChar char="●"/>
            </a:pPr>
            <a:r>
              <a:rPr lang="en-GB" sz="24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 the next example:</a:t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23323" lvl="1" marL="121917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venir"/>
              <a:buChar char="○"/>
            </a:pPr>
            <a:r>
              <a:rPr b="0" i="0" lang="en-GB" sz="2400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main query retrieves results from ACCOUNT table, </a:t>
            </a:r>
            <a:endParaRPr b="0" i="0" sz="2400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marR="0" rtl="0" algn="just">
              <a:lnSpc>
                <a:spcPct val="115000"/>
              </a:lnSpc>
              <a:spcBef>
                <a:spcPts val="2667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23323" lvl="1" marL="121917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venir"/>
              <a:buChar char="○"/>
            </a:pPr>
            <a:r>
              <a:rPr b="0" i="0" lang="en-GB" sz="2400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Subquery retrieves results from TRANSACTION table which is independently executed, and also filters the records with condition that transaction amount &gt; 23000</a:t>
            </a:r>
            <a:endParaRPr b="0" i="0" sz="2400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marR="0" rtl="0" algn="just">
              <a:lnSpc>
                <a:spcPct val="115000"/>
              </a:lnSpc>
              <a:spcBef>
                <a:spcPts val="2667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23323" lvl="1" marL="121917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venir"/>
              <a:buChar char="○"/>
            </a:pPr>
            <a:r>
              <a:rPr b="0" i="0" lang="en-GB" sz="2400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 the FROM clause, the Subquery joins the filtered records of TRANSACTION table, and joins with ACCOUNT table</a:t>
            </a:r>
            <a:endParaRPr b="0" i="0" sz="2400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marR="0" rtl="0" algn="just">
              <a:lnSpc>
                <a:spcPct val="115000"/>
              </a:lnSpc>
              <a:spcBef>
                <a:spcPts val="2667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23323" lvl="1" marL="121917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venir"/>
              <a:buChar char="○"/>
            </a:pPr>
            <a:r>
              <a:rPr b="0" i="0" lang="en-GB" sz="2400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WHERE clause ensures to join the ACCOUNT and the “Subquery TRANSACTION table” results to give the desired output</a:t>
            </a:r>
            <a:endParaRPr b="0" i="0" sz="2400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591747" y="105000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Outer References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7"/>
          <p:cNvSpPr txBox="1"/>
          <p:nvPr/>
        </p:nvSpPr>
        <p:spPr>
          <a:xfrm>
            <a:off x="1961337" y="1903700"/>
            <a:ext cx="8366400" cy="320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A.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Acct_Num,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Sub_T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.Tran_Amount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ACCOUNT </a:t>
            </a:r>
            <a:r>
              <a:rPr b="1"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 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733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733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b="1"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Acct_Num, </a:t>
            </a:r>
            <a:endParaRPr sz="1733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Tran_Amount</a:t>
            </a:r>
            <a:endParaRPr sz="1733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b="1"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 </a:t>
            </a:r>
            <a:endParaRPr sz="1733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b="1"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Tran_amount &gt; 23000</a:t>
            </a:r>
            <a:endParaRPr sz="1733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 Sub_T</a:t>
            </a:r>
            <a:endParaRPr b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A.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 =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Sub_T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.Acct_Num</a:t>
            </a:r>
            <a:endParaRPr b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57" name="Google Shape;2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228" y="5488267"/>
            <a:ext cx="3048009" cy="914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8" name="Google Shape;258;p17"/>
          <p:cNvSpPr txBox="1"/>
          <p:nvPr/>
        </p:nvSpPr>
        <p:spPr>
          <a:xfrm>
            <a:off x="591747" y="105000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Outer References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"/>
          <p:cNvSpPr txBox="1"/>
          <p:nvPr/>
        </p:nvSpPr>
        <p:spPr>
          <a:xfrm>
            <a:off x="513633" y="2894700"/>
            <a:ext cx="10094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Subquery Search Condition</a:t>
            </a:r>
            <a:endParaRPr sz="6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Comparison Test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508000" y="2207367"/>
            <a:ext cx="11152800" cy="35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Sub Queries’ results are dynamic rather than constant</a:t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That means, developer will not manually pass any input in order to fetch the records,  the dynamic input is retrieved from subquery</a:t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These subqueries when used in WHERE clause, uses its dynamic input in the condition and then fetches the records</a:t>
            </a:r>
            <a:endParaRPr sz="2133">
              <a:solidFill>
                <a:schemeClr val="dk1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76" name="Google Shape;2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0"/>
          <p:cNvSpPr txBox="1"/>
          <p:nvPr/>
        </p:nvSpPr>
        <p:spPr>
          <a:xfrm>
            <a:off x="508000" y="1921067"/>
            <a:ext cx="10866000" cy="3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 the next example: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main query tries to return transaction details during </a:t>
            </a:r>
            <a:r>
              <a:rPr b="0" i="1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recent </a:t>
            </a: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Holiday</a:t>
            </a:r>
            <a:endParaRPr b="0" i="0" sz="2133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Developer usually do not need to know which is the recent holiday</a:t>
            </a:r>
            <a:endParaRPr b="0" i="0" sz="2133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subquery is independently executed and returns a single (scalar) value : “2020-04-24”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This date is dynamically returned by subquery, and it can be any other date as per database table entries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Comparison Test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623100" y="2086933"/>
            <a:ext cx="6504400" cy="2552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Acct_Num,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Tran_Amount,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Tran_Date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TRANSACTION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Tran_Date </a:t>
            </a:r>
            <a:r>
              <a:rPr b="1"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(</a:t>
            </a: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MAX(event_dt 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82875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82875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Event = 'Holiday'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82875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7127500" y="2807667"/>
            <a:ext cx="4736800" cy="15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23323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venir"/>
              <a:buChar char="●"/>
            </a:pPr>
            <a:r>
              <a:rPr lang="en-GB" sz="24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 this example, WHERE clause expects a scalar (single) value in the subquery result that is : 2020-04-24</a:t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Comparison Test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96" name="Google Shape;2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101" y="5300434"/>
            <a:ext cx="3949700" cy="113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2"/>
          <p:cNvSpPr txBox="1"/>
          <p:nvPr/>
        </p:nvSpPr>
        <p:spPr>
          <a:xfrm>
            <a:off x="508000" y="2029367"/>
            <a:ext cx="10620800" cy="38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 the next example: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query tries to fetch all bank accounts and their balance amount when they had withdrawn the amount via ATMs machine only</a:t>
            </a:r>
            <a:endParaRPr b="0" i="0" sz="2133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Initially, the subquery is executed independently and returns the result set of “multiple” Account Numbers ( </a:t>
            </a:r>
            <a:r>
              <a:rPr b="1" i="1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same datatype </a:t>
            </a: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) with ATM transactions</a:t>
            </a:r>
            <a:endParaRPr b="0" i="0" sz="2133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“IN” operator acts like a multi-row operation refer to subquery result set to obtain balance amount </a:t>
            </a:r>
            <a:endParaRPr b="0" i="0" sz="2133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Set Membership Test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3"/>
          <p:cNvSpPr txBox="1"/>
          <p:nvPr/>
        </p:nvSpPr>
        <p:spPr>
          <a:xfrm>
            <a:off x="598600" y="2127733"/>
            <a:ext cx="5174000" cy="2827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A.Acct_Num,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A.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Balance,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      A.</a:t>
            </a:r>
            <a:r>
              <a:rPr lang="en-GB" sz="16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Acct_type,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       A.Acct_status</a:t>
            </a:r>
            <a:endParaRPr sz="1733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ACCOUNT A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.Acct_Num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733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1733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SELECT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 </a:t>
            </a:r>
            <a:r>
              <a:rPr b="1"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endParaRPr sz="1733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WHERE 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6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Channel</a:t>
            </a:r>
            <a:r>
              <a:rPr lang="en-GB" sz="1733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GB" sz="16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'ATM withdrawal'</a:t>
            </a:r>
            <a:endParaRPr sz="16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Set Membership Test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5" name="Google Shape;315;p23"/>
          <p:cNvSpPr txBox="1"/>
          <p:nvPr/>
        </p:nvSpPr>
        <p:spPr>
          <a:xfrm>
            <a:off x="6399833" y="2458800"/>
            <a:ext cx="5322800" cy="26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23323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venir"/>
              <a:buChar char="●"/>
            </a:pPr>
            <a:r>
              <a:rPr lang="en-GB" sz="24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Here, multiple values are provided to the main query with the help of IN operator</a:t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2667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23323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venir"/>
              <a:buChar char="●"/>
            </a:pPr>
            <a:r>
              <a:rPr lang="en-GB" sz="24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Based on the values returned by subquery, the outer Q\query will execute</a:t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16" name="Google Shape;31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601" y="5285932"/>
            <a:ext cx="4584700" cy="914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Existence Test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4" name="Google Shape;324;p24"/>
          <p:cNvSpPr txBox="1"/>
          <p:nvPr/>
        </p:nvSpPr>
        <p:spPr>
          <a:xfrm>
            <a:off x="531000" y="2069300"/>
            <a:ext cx="11130000" cy="35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 subquery is examined by each record of the main query using common key columns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 common key column should be same in main query and subquery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 subquery returns true (1) or false (0) when its conditions are satisfied with main query input column values</a:t>
            </a:r>
            <a:endParaRPr sz="24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25" name="Google Shape;3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Existence Test using EXISTS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3" name="Google Shape;333;p25"/>
          <p:cNvSpPr txBox="1"/>
          <p:nvPr/>
        </p:nvSpPr>
        <p:spPr>
          <a:xfrm>
            <a:off x="480400" y="1873533"/>
            <a:ext cx="11107600" cy="26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EXISTS operator is used when a record in the main query has one or more matching records in the subquery result set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highlight>
                <a:srgbClr val="FFFF00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 the next example the subquery of Transaction is executed for multiple times for each account in ACCOUNT table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34" name="Google Shape;3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6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6"/>
          <p:cNvSpPr txBox="1"/>
          <p:nvPr/>
        </p:nvSpPr>
        <p:spPr>
          <a:xfrm>
            <a:off x="2562533" y="3295367"/>
            <a:ext cx="6458400" cy="2416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i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A.Acct_Num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	   A.Balance  ,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   A.acct_type,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	   A.acct_status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ACCOUNT A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Exists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'yes'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121917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 T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121917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T.Acct_Num = </a:t>
            </a:r>
            <a:r>
              <a:rPr i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A.Acct_Num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42" name="Google Shape;3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6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Existence Test using EXISTS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44" name="Google Shape;344;p26"/>
          <p:cNvSpPr txBox="1"/>
          <p:nvPr/>
        </p:nvSpPr>
        <p:spPr>
          <a:xfrm>
            <a:off x="508000" y="1828800"/>
            <a:ext cx="10883200" cy="11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query checks each account has done at least one transaction in Transaction table, otherwise, do not return those account details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7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Existence Test using EXISTS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53" name="Google Shape;35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00" y="2500634"/>
            <a:ext cx="4216667" cy="2442333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4" name="Google Shape;354;p27"/>
          <p:cNvSpPr txBox="1"/>
          <p:nvPr/>
        </p:nvSpPr>
        <p:spPr>
          <a:xfrm>
            <a:off x="4893567" y="2907033"/>
            <a:ext cx="6846800" cy="17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 subquery, ‘yes’ is a constant value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Internally, the subquery returns true or false when the record is available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8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8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Quantified Test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2" name="Google Shape;362;p28"/>
          <p:cNvSpPr txBox="1"/>
          <p:nvPr/>
        </p:nvSpPr>
        <p:spPr>
          <a:xfrm>
            <a:off x="508000" y="1920333"/>
            <a:ext cx="11153200" cy="4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Quantify test means “validating many records ”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2667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266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Several times, multiple records are returned from subquery. Usually there is a one-many relationship between main query and subquery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2667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266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 such cases, the main query satisfies the condition if at least “one single record” of main Query matches with matches with “any of the multiple records” of subquery. 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63" name="Google Shape;36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9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9"/>
          <p:cNvSpPr txBox="1"/>
          <p:nvPr/>
        </p:nvSpPr>
        <p:spPr>
          <a:xfrm>
            <a:off x="508000" y="1826433"/>
            <a:ext cx="11049600" cy="42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 the next example: 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main Query tries to retrieve all of the given account transactions if  at least one transaction is happened beyond any of the holidays</a:t>
            </a:r>
            <a:endParaRPr b="0" i="0" sz="2133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“&gt;” or “&lt;” range operator along with “ANY” walks through of all of the account transactions</a:t>
            </a:r>
            <a:endParaRPr b="0" i="0" sz="2133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ANY quantifies that if atleast one transaction is beyond holiday then the main Query returns all the transaction records of the account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2" name="Google Shape;372;p29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Quantified Test using ANY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0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0"/>
          <p:cNvSpPr txBox="1"/>
          <p:nvPr/>
        </p:nvSpPr>
        <p:spPr>
          <a:xfrm>
            <a:off x="2235400" y="2444933"/>
            <a:ext cx="7721200" cy="292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Acct_Num,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Tran_Date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  =  '4000-1956-2001’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Tran_Date &gt; </a:t>
            </a:r>
            <a:r>
              <a:rPr b="1" i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ANY</a:t>
            </a:r>
            <a:endParaRPr b="1" i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Event_dt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 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event = 'Holiday'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1" name="Google Shape;381;p30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Quantified Test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1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1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1"/>
          <p:cNvSpPr txBox="1"/>
          <p:nvPr/>
        </p:nvSpPr>
        <p:spPr>
          <a:xfrm>
            <a:off x="508000" y="2489800"/>
            <a:ext cx="5720800" cy="1219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#subquery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Event_dt 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 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 = 'Holiday'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0" name="Google Shape;390;p31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Quantified Test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508000" y="4825867"/>
            <a:ext cx="5720800" cy="1219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#main query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Acct_Num,Tran_Date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Acct_Num  =  '4000-1956-2001'</a:t>
            </a:r>
            <a:endParaRPr b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92" name="Google Shape;39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7899" y="2530334"/>
            <a:ext cx="1030733" cy="107656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3" name="Google Shape;393;p31"/>
          <p:cNvSpPr txBox="1"/>
          <p:nvPr/>
        </p:nvSpPr>
        <p:spPr>
          <a:xfrm>
            <a:off x="508000" y="1828800"/>
            <a:ext cx="6435200" cy="5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Result of subquery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94" name="Google Shape;394;p31"/>
          <p:cNvSpPr txBox="1"/>
          <p:nvPr/>
        </p:nvSpPr>
        <p:spPr>
          <a:xfrm>
            <a:off x="508000" y="4267200"/>
            <a:ext cx="6435200" cy="5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Result of main query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95" name="Google Shape;39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7899" y="4578133"/>
            <a:ext cx="2717800" cy="2006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2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Quantified Test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04" name="Google Shape;404;p32"/>
          <p:cNvSpPr txBox="1"/>
          <p:nvPr/>
        </p:nvSpPr>
        <p:spPr>
          <a:xfrm>
            <a:off x="508000" y="5149867"/>
            <a:ext cx="11277200" cy="14492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788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Here, subquery returns holiday days from Feb,2020 to April,2020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788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Main query evaluates the least Holiday : Feb,2020 using ANY so that it retrieves as many transactions as possible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05" name="Google Shape;405;p32"/>
          <p:cNvSpPr txBox="1"/>
          <p:nvPr/>
        </p:nvSpPr>
        <p:spPr>
          <a:xfrm>
            <a:off x="591300" y="1968600"/>
            <a:ext cx="7721200" cy="292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Acct_Num,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Tran_Date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  =  '4000-1956-2001’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Tran_Date &gt; </a:t>
            </a:r>
            <a:r>
              <a:rPr b="1" i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ANY</a:t>
            </a:r>
            <a:endParaRPr b="1" i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Event_dt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 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event = 'Holiday'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06" name="Google Shape;40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4633" y="2730500"/>
            <a:ext cx="2785400" cy="150933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3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3"/>
          <p:cNvSpPr txBox="1"/>
          <p:nvPr/>
        </p:nvSpPr>
        <p:spPr>
          <a:xfrm>
            <a:off x="508000" y="1826433"/>
            <a:ext cx="110496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67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Replace ANY with IN and compare the results: Few record gets filtered and the meaning of the result gets changed</a:t>
            </a:r>
            <a:endParaRPr i="1" sz="2267">
              <a:solidFill>
                <a:srgbClr val="22222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5" name="Google Shape;415;p33"/>
          <p:cNvPicPr preferRelativeResize="0"/>
          <p:nvPr/>
        </p:nvPicPr>
        <p:blipFill rotWithShape="1">
          <a:blip r:embed="rId4">
            <a:alphaModFix/>
          </a:blip>
          <a:srcRect b="23340" l="18269" r="27373" t="18234"/>
          <a:stretch/>
        </p:blipFill>
        <p:spPr>
          <a:xfrm>
            <a:off x="556568" y="350467"/>
            <a:ext cx="1423133" cy="8998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3"/>
          <p:cNvSpPr txBox="1"/>
          <p:nvPr/>
        </p:nvSpPr>
        <p:spPr>
          <a:xfrm>
            <a:off x="759767" y="3042800"/>
            <a:ext cx="7721200" cy="292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Acct_Num,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Tran_Date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  =  '4000-1956-2001’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Tran_Date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endParaRPr b="1" i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Event_dt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 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event = 'Holiday'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17" name="Google Shape;417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1233" y="4089600"/>
            <a:ext cx="2692400" cy="711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4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4"/>
          <p:cNvSpPr txBox="1"/>
          <p:nvPr/>
        </p:nvSpPr>
        <p:spPr>
          <a:xfrm>
            <a:off x="508000" y="2557333"/>
            <a:ext cx="11152800" cy="2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Unlike ANY,  ALL is used to quantify the infinite results rather than the sample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 such cases, each of the main query records satisfies the condition when it matches with every/all of results of subquery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25" name="Google Shape;42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4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Quantified Test using ALL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5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5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5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Sub-Query Quantified Test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5" name="Google Shape;435;p35"/>
          <p:cNvSpPr txBox="1"/>
          <p:nvPr/>
        </p:nvSpPr>
        <p:spPr>
          <a:xfrm>
            <a:off x="508000" y="1901133"/>
            <a:ext cx="10531600" cy="4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2667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 next example: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spcBef>
                <a:spcPts val="2667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 bank transactions are retrieved by checking ALL of the bank holidays</a:t>
            </a:r>
            <a:endParaRPr b="0" i="0" sz="2133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spcBef>
                <a:spcPts val="2667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“&gt;” or “&lt;” range operator along with “ALL” walks through all of the bank holidays</a:t>
            </a:r>
            <a:endParaRPr b="0" i="0" sz="2133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marR="0" rtl="0" algn="just">
              <a:spcBef>
                <a:spcPts val="2667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2667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ALL will ensure the main query to check “each and every” subquery result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2667"/>
              </a:spcBef>
              <a:spcAft>
                <a:spcPts val="2667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6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6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6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Quantified Test using “ALL” with “&lt;” operator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43" name="Google Shape;4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6"/>
          <p:cNvSpPr txBox="1"/>
          <p:nvPr/>
        </p:nvSpPr>
        <p:spPr>
          <a:xfrm>
            <a:off x="609600" y="2172300"/>
            <a:ext cx="7730000" cy="2467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Acct_Num,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Tran_Date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 = '4000-1956-2001'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AND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Tran_Date </a:t>
            </a:r>
            <a:r>
              <a:rPr b="1"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 ALL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 SELECT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Event_dt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609584" lvl="0" marL="182875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 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609584" lvl="0" marL="182875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 = 'Holiday'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609584" lvl="0" marL="182875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5" name="Google Shape;445;p36"/>
          <p:cNvSpPr txBox="1"/>
          <p:nvPr/>
        </p:nvSpPr>
        <p:spPr>
          <a:xfrm>
            <a:off x="508000" y="4988667"/>
            <a:ext cx="11142400" cy="13328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788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Here, ALL the results of subquery are considered by main query</a:t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788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Hence it checks for the transactions before “all of those holidays”( Refer slide 38 for details of the Queries ) </a:t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46" name="Google Shape;44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9834" y="2961399"/>
            <a:ext cx="2730500" cy="88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7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7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7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Quantified Test using “ALL” with “&gt;” operator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54" name="Google Shape;45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7"/>
          <p:cNvSpPr txBox="1"/>
          <p:nvPr/>
        </p:nvSpPr>
        <p:spPr>
          <a:xfrm>
            <a:off x="609600" y="2194833"/>
            <a:ext cx="7662400" cy="248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Acct_Num,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Tran_Date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 = '4000-1956-2001'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AND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Tran_Date </a:t>
            </a:r>
            <a:r>
              <a:rPr b="1"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ALL</a:t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Event_dt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609584" lvl="0" marL="182875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MESSAGE 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609584" lvl="0" marL="182875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 = 'Holiday'      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609584" lvl="0" marL="182875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6" name="Google Shape;456;p37"/>
          <p:cNvSpPr txBox="1"/>
          <p:nvPr/>
        </p:nvSpPr>
        <p:spPr>
          <a:xfrm>
            <a:off x="449800" y="5044967"/>
            <a:ext cx="11317200" cy="12768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23323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●"/>
            </a:pPr>
            <a:r>
              <a:rPr lang="en-GB"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Here, ALL the results of subquery are considered by main query</a:t>
            </a:r>
            <a:endParaRPr sz="24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23323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●"/>
            </a:pPr>
            <a:r>
              <a:rPr lang="en-GB"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Hence it checks for the transactions after all of those holidays </a:t>
            </a:r>
            <a:endParaRPr sz="24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57" name="Google Shape;45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5867" y="3119567"/>
            <a:ext cx="2884000" cy="63173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8"/>
          <p:cNvSpPr txBox="1"/>
          <p:nvPr/>
        </p:nvSpPr>
        <p:spPr>
          <a:xfrm>
            <a:off x="513633" y="2894700"/>
            <a:ext cx="10094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Subquery in FROM Clause</a:t>
            </a:r>
            <a:endParaRPr sz="60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64" name="Google Shape;464;p38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8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6" name="Google Shape;46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9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9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9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in FROM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74" name="Google Shape;474;p39"/>
          <p:cNvSpPr txBox="1"/>
          <p:nvPr/>
        </p:nvSpPr>
        <p:spPr>
          <a:xfrm>
            <a:off x="508000" y="2667400"/>
            <a:ext cx="11290800" cy="21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Subqueries in the From Clause act like a view table derived from conditions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2667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lnSpc>
                <a:spcPct val="115000"/>
              </a:lnSpc>
              <a:spcBef>
                <a:spcPts val="2667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Subqueries as a derived form can inline with JOINs to form a main query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75" name="Google Shape;47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0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0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0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in FROM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83" name="Google Shape;48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40"/>
          <p:cNvSpPr txBox="1"/>
          <p:nvPr/>
        </p:nvSpPr>
        <p:spPr>
          <a:xfrm>
            <a:off x="1014100" y="3835400"/>
            <a:ext cx="10310400" cy="25964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A.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Tran.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Tran_Amount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Tran.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Tran_Date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ACCOUNT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Tran_Amount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Tran_Date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 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Tran_Date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Event_dt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AND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event= 'Holiday'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Tran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ON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Tran.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A.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 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5" name="Google Shape;485;p40"/>
          <p:cNvSpPr txBox="1"/>
          <p:nvPr/>
        </p:nvSpPr>
        <p:spPr>
          <a:xfrm>
            <a:off x="508000" y="1282967"/>
            <a:ext cx="10802800" cy="23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788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Consider the following query, the main query JOINS with a Subquery </a:t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788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Initially, the subquery is executed and retrieves the transactions occurred during holidays</a:t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788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These transactions are then used by main query using JOIN clause to retrieve Account and Transaction details </a:t>
            </a:r>
            <a:endParaRPr b="1"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1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1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1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Subquery in FROM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93" name="Google Shape;49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1"/>
          <p:cNvSpPr txBox="1"/>
          <p:nvPr/>
        </p:nvSpPr>
        <p:spPr>
          <a:xfrm>
            <a:off x="744000" y="2436867"/>
            <a:ext cx="1323200" cy="5584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Output: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95" name="Google Shape;49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9400" y="3159233"/>
            <a:ext cx="4013200" cy="142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2"/>
          <p:cNvSpPr txBox="1"/>
          <p:nvPr/>
        </p:nvSpPr>
        <p:spPr>
          <a:xfrm>
            <a:off x="513633" y="2894700"/>
            <a:ext cx="10094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Nested Subqueries</a:t>
            </a:r>
            <a:endParaRPr sz="60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02" name="Google Shape;502;p42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2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4" name="Google Shape;50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3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3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3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Nested-Subqueries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12" name="Google Shape;512;p43"/>
          <p:cNvSpPr txBox="1"/>
          <p:nvPr/>
        </p:nvSpPr>
        <p:spPr>
          <a:xfrm>
            <a:off x="508000" y="1880600"/>
            <a:ext cx="11207200" cy="44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 Subquery can be embedded or </a:t>
            </a:r>
            <a:r>
              <a:rPr b="1" i="1"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nested </a:t>
            </a: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 another Subquery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Any SELECT query supports multiple subqueries nesting within one another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 each nested subquery executes independently and pass its result to next level subquery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E.g : A SELECT query consists of Subquery - A , 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then Subquery - A consists of Subquery - B, and </a:t>
            </a:r>
            <a:endParaRPr b="0" i="0" sz="2133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then the Subquery - B can consists of Subquery - C,  and so on </a:t>
            </a:r>
            <a:endParaRPr b="0" i="0" sz="2133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13" name="Google Shape;51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4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4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4"/>
          <p:cNvSpPr txBox="1"/>
          <p:nvPr/>
        </p:nvSpPr>
        <p:spPr>
          <a:xfrm>
            <a:off x="585333" y="2645100"/>
            <a:ext cx="11130000" cy="25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667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MYSQL executes the low level subquery first and pass its intermediate result to its next immediate subquery. </a:t>
            </a:r>
            <a:endParaRPr i="1" sz="266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667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Here in Eg, Subquery-C is executed first and pass its result to Subquery-B, and so on</a:t>
            </a:r>
            <a:endParaRPr i="1" sz="266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21" name="Google Shape;52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44"/>
          <p:cNvPicPr preferRelativeResize="0"/>
          <p:nvPr/>
        </p:nvPicPr>
        <p:blipFill rotWithShape="1">
          <a:blip r:embed="rId4">
            <a:alphaModFix/>
          </a:blip>
          <a:srcRect b="4688" l="11594" r="10692" t="4094"/>
          <a:stretch/>
        </p:blipFill>
        <p:spPr>
          <a:xfrm>
            <a:off x="577867" y="248134"/>
            <a:ext cx="1638700" cy="1409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5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5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5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Nested-Subqueries - Example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30" name="Google Shape;53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5"/>
          <p:cNvSpPr txBox="1"/>
          <p:nvPr/>
        </p:nvSpPr>
        <p:spPr>
          <a:xfrm>
            <a:off x="508000" y="1891867"/>
            <a:ext cx="11142000" cy="4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 the next example: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Initially, low level subquery (Evnt) returns a list of Holiday dates  and pass it to its next level subquery</a:t>
            </a:r>
            <a:endParaRPr b="0" i="0" sz="2133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Next, the subquery (</a:t>
            </a:r>
            <a:r>
              <a:rPr b="0" i="0" lang="en-GB" sz="2133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Tran_Evnt) </a:t>
            </a: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uses Holiday dates returned by (Evnt) and returns transactions during the event to next level query</a:t>
            </a:r>
            <a:endParaRPr b="0" i="0" sz="2133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Finally, the main query uses records of (</a:t>
            </a:r>
            <a:r>
              <a:rPr b="0" i="0" lang="en-GB" sz="2133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Tran_Evnt) subquery and joins with Account table </a:t>
            </a:r>
            <a:r>
              <a:rPr b="0" i="0" lang="en-GB" sz="2133" u="none" cap="none" strike="noStrike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to return Account details and Tran_Evnt subquery details.</a:t>
            </a:r>
            <a:endParaRPr b="0" i="0" sz="2133" u="none" cap="none" strike="noStrike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6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6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6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Nested-Subqueries - Example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39" name="Google Shape;5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6"/>
          <p:cNvSpPr txBox="1"/>
          <p:nvPr/>
        </p:nvSpPr>
        <p:spPr>
          <a:xfrm>
            <a:off x="1270200" y="2290532"/>
            <a:ext cx="9809200" cy="292154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Cust_id, A.Acct_Num, A.Balance, Tran_Evnt.Tran_Amount, Event 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ACCOUNT A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JOIN (SELECT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Acct_Num,	Tran_Amount, Event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Transaction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JOIN (SELECT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Event, Event_dt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Evnt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ON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Tran_Date = Evnt.Event_dt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Tran_Evnt       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ON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A.Acct_Num = Tran_Evnt.Acct_Num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1" name="Google Shape;541;p46"/>
          <p:cNvSpPr txBox="1"/>
          <p:nvPr/>
        </p:nvSpPr>
        <p:spPr>
          <a:xfrm>
            <a:off x="508000" y="1625600"/>
            <a:ext cx="8135600" cy="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Nested subquery: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2" name="Google Shape;54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2400" y="5359953"/>
            <a:ext cx="5384800" cy="142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7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7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7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Nested-Subqueries - Example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50" name="Google Shape;55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7"/>
          <p:cNvSpPr txBox="1"/>
          <p:nvPr/>
        </p:nvSpPr>
        <p:spPr>
          <a:xfrm>
            <a:off x="508000" y="2372200"/>
            <a:ext cx="10261600" cy="3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 final result consist of: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Message table details from subquery - (Evnt)</a:t>
            </a:r>
            <a:endParaRPr b="0" i="0" sz="2133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Transactions details from subquery - (Tran_Evnt)</a:t>
            </a:r>
            <a:endParaRPr b="0" i="0" sz="2133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○"/>
            </a:pPr>
            <a:r>
              <a:rPr b="0" i="0" lang="en-GB" sz="2133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Account Details from Account table</a:t>
            </a:r>
            <a:endParaRPr b="0" i="0" sz="2133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8"/>
          <p:cNvSpPr txBox="1"/>
          <p:nvPr/>
        </p:nvSpPr>
        <p:spPr>
          <a:xfrm>
            <a:off x="513633" y="2894700"/>
            <a:ext cx="11102800" cy="2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Set Membership Test using Nested Subqueries</a:t>
            </a:r>
            <a:endParaRPr sz="60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58" name="Google Shape;558;p48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8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0" name="Google Shape;56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9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49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9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Set Membership Test Using Nested Subquery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68" name="Google Shape;56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9"/>
          <p:cNvSpPr txBox="1"/>
          <p:nvPr/>
        </p:nvSpPr>
        <p:spPr>
          <a:xfrm>
            <a:off x="508000" y="2032433"/>
            <a:ext cx="11005600" cy="32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A series of subqueries nested in one another recursively are referred by common key columns using IN operator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Low level nested subquery is executed first and then referred by IN operator by its next level subquery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This  process is repeated until the result of nested queries reaches to main query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0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50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50"/>
          <p:cNvSpPr txBox="1"/>
          <p:nvPr/>
        </p:nvSpPr>
        <p:spPr>
          <a:xfrm>
            <a:off x="923133" y="1907183"/>
            <a:ext cx="10422000" cy="2926073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Acct_Num, Tran_Amount, Channel, Tran_date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 </a:t>
            </a:r>
            <a:endParaRPr i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ACCOUNT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Balance &gt; 0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AND Cust_Id IN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Cust_Id</a:t>
            </a:r>
            <a:endParaRPr i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31501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CUSTOMER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31501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77" name="Google Shape;57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50"/>
          <p:cNvSpPr txBox="1"/>
          <p:nvPr/>
        </p:nvSpPr>
        <p:spPr>
          <a:xfrm>
            <a:off x="500967" y="4718400"/>
            <a:ext cx="10784800" cy="19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23323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venir"/>
              <a:buChar char="●"/>
            </a:pPr>
            <a:r>
              <a:rPr lang="en-GB" sz="24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First, the innermost nested subquery consists of customer details which is then referred by its immediate account subquery using IN operator</a:t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23323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venir"/>
              <a:buChar char="●"/>
            </a:pPr>
            <a:r>
              <a:rPr lang="en-GB" sz="24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Secondly, the Account table details are evaluated and the final account numbers to </a:t>
            </a:r>
            <a:r>
              <a:rPr b="1" lang="en-GB" sz="24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main </a:t>
            </a:r>
            <a:r>
              <a:rPr lang="en-GB" sz="24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Transaction query </a:t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9" name="Google Shape;579;p50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Set Membership Test Using Nested Subquery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1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51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6" name="Google Shape;58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51"/>
          <p:cNvSpPr txBox="1"/>
          <p:nvPr/>
        </p:nvSpPr>
        <p:spPr>
          <a:xfrm>
            <a:off x="500967" y="5101267"/>
            <a:ext cx="10784800" cy="10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23323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venir"/>
              <a:buChar char="●"/>
            </a:pPr>
            <a:r>
              <a:rPr lang="en-GB" sz="24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Finally, the transaction details are retrieved by checking in ACCOUNT and CUSTOMER table using IN operator and nested subqueries</a:t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88" name="Google Shape;588;p51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Set Membership Test Using Nested Subquery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89" name="Google Shape;589;p51"/>
          <p:cNvSpPr txBox="1"/>
          <p:nvPr/>
        </p:nvSpPr>
        <p:spPr>
          <a:xfrm>
            <a:off x="923133" y="1907183"/>
            <a:ext cx="10422000" cy="3073415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Acct_Num, Tran_Amount, Channel, Tran_date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 </a:t>
            </a:r>
            <a:endParaRPr i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ACCOUNT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Balance &gt; 0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AND Cust_Id IN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Cust_Id</a:t>
            </a:r>
            <a:endParaRPr i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31501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CUSTOMER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315017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2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52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6" name="Google Shape;59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52"/>
          <p:cNvSpPr txBox="1"/>
          <p:nvPr/>
        </p:nvSpPr>
        <p:spPr>
          <a:xfrm>
            <a:off x="5344000" y="3017100"/>
            <a:ext cx="6531200" cy="2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23323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venir"/>
              <a:buChar char="●"/>
            </a:pPr>
            <a:r>
              <a:rPr lang="en-GB" sz="24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final result consists of only Transaction table details</a:t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23323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venir"/>
              <a:buChar char="●"/>
            </a:pPr>
            <a:r>
              <a:rPr lang="en-GB" sz="24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Unlike JOINS , set operator (IN) cannot bring the column results from nested subqueries </a:t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98" name="Google Shape;598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900" y="2502196"/>
            <a:ext cx="4699467" cy="36036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9" name="Google Shape;599;p52"/>
          <p:cNvSpPr txBox="1"/>
          <p:nvPr/>
        </p:nvSpPr>
        <p:spPr>
          <a:xfrm>
            <a:off x="609600" y="1899500"/>
            <a:ext cx="14128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Output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00" name="Google Shape;600;p52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Set Membership Test Using Nested Subquery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3"/>
          <p:cNvSpPr txBox="1"/>
          <p:nvPr/>
        </p:nvSpPr>
        <p:spPr>
          <a:xfrm>
            <a:off x="513633" y="2894700"/>
            <a:ext cx="1091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667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Set Comparison Test Using Nested Subquery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6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53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53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9" name="Google Shape;60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4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54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54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Set Comparison Test Using Nested Subquery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17" name="Google Shape;61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4"/>
          <p:cNvSpPr txBox="1"/>
          <p:nvPr/>
        </p:nvSpPr>
        <p:spPr>
          <a:xfrm>
            <a:off x="508000" y="2854967"/>
            <a:ext cx="10944400" cy="1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 a recursive nested subqueries,  comparison operators includes “&gt;” , “&lt;” ,  are used to compare a range of subquery results and filters the outer query results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5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55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5" name="Google Shape;62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55"/>
          <p:cNvSpPr txBox="1"/>
          <p:nvPr/>
        </p:nvSpPr>
        <p:spPr>
          <a:xfrm>
            <a:off x="843733" y="5101533"/>
            <a:ext cx="10719600" cy="1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788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Here, the set operators  (IN) and “&gt;” are used for evaluating the nested subqueries </a:t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788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low level nested subquery returns a scalar(single)  value - recent Holiday </a:t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7" name="Google Shape;627;p55"/>
          <p:cNvSpPr txBox="1"/>
          <p:nvPr/>
        </p:nvSpPr>
        <p:spPr>
          <a:xfrm>
            <a:off x="843733" y="1625599"/>
            <a:ext cx="10314800" cy="3475933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CUSTOMER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Cust_Id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Cust_Id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609584" lvl="0" marL="182875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ROM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ACCOUNT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38339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(SELEC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Acct_Num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Tran_Date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(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MAX(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Event_dt )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609584" lvl="0" marL="54862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8" name="Google Shape;628;p55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Set Comparison Test Using Nested Sub-Query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56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56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5" name="Google Shape;63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56"/>
          <p:cNvSpPr txBox="1"/>
          <p:nvPr/>
        </p:nvSpPr>
        <p:spPr>
          <a:xfrm>
            <a:off x="843733" y="5101533"/>
            <a:ext cx="10719600" cy="1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788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“&gt;” operator expects only single value, hence we applied MAX function to return recent Holiday</a:t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788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Later, the </a:t>
            </a:r>
            <a:r>
              <a:rPr b="1"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 </a:t>
            </a: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operator evaluates transaction details after the recent Holiday</a:t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37" name="Google Shape;637;p56"/>
          <p:cNvSpPr txBox="1"/>
          <p:nvPr/>
        </p:nvSpPr>
        <p:spPr>
          <a:xfrm>
            <a:off x="843733" y="1625599"/>
            <a:ext cx="10314800" cy="3475933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CUSTOMER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Cust_Id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Cust_Id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609584" lvl="0" marL="182875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ROM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ACCOUNT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38339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(SELEC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Acct_Num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Tran_Date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(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MAX(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Event_dt )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609584" lvl="0" marL="54862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8" name="Google Shape;638;p56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Set Comparison Test Using Nested Sub-Query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7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57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5" name="Google Shape;64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57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Set Comparison Test Using Nested Sub-Query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7" name="Google Shape;647;p57"/>
          <p:cNvSpPr txBox="1"/>
          <p:nvPr/>
        </p:nvSpPr>
        <p:spPr>
          <a:xfrm>
            <a:off x="6197600" y="2677767"/>
            <a:ext cx="5508800" cy="1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23323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venir"/>
              <a:buChar char="●"/>
            </a:pPr>
            <a:r>
              <a:rPr lang="en-GB" sz="24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output displays the customer details from main query, and the result is: customers who did transactions after Holiday</a:t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48" name="Google Shape;64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0867" y="2877833"/>
            <a:ext cx="5225139" cy="91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9" name="Google Shape;649;p57"/>
          <p:cNvSpPr txBox="1"/>
          <p:nvPr/>
        </p:nvSpPr>
        <p:spPr>
          <a:xfrm>
            <a:off x="733200" y="5532567"/>
            <a:ext cx="10725600" cy="8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2667"/>
              </a:spcAft>
              <a:buNone/>
            </a:pPr>
            <a:r>
              <a:rPr b="1" i="1" lang="en-GB" sz="2133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Note</a:t>
            </a:r>
            <a:r>
              <a:rPr i="1" lang="en-GB" sz="2133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: IN operator cannot return the column values unlike JOINS nested subqueries</a:t>
            </a:r>
            <a:endParaRPr i="1" sz="2133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8"/>
          <p:cNvSpPr txBox="1"/>
          <p:nvPr/>
        </p:nvSpPr>
        <p:spPr>
          <a:xfrm>
            <a:off x="508000" y="2787533"/>
            <a:ext cx="10094800" cy="2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Subqueries with the ‘WITH’ Clause</a:t>
            </a:r>
            <a:endParaRPr sz="60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6" name="Google Shape;656;p58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8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9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59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59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Subqueries with the ‘WITH’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66" name="Google Shape;66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9"/>
          <p:cNvSpPr txBox="1"/>
          <p:nvPr/>
        </p:nvSpPr>
        <p:spPr>
          <a:xfrm>
            <a:off x="508000" y="1891867"/>
            <a:ext cx="10903600" cy="4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Subqueries written in the WITH Clause plays a factoring role</a:t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Factoring means , the WITH Clause serves subquery results in the Main-Query wherever it is referenced</a:t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Once the WITH clause is executed , the same subQuery result can be used for multiple times without execution</a:t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WITH clause plays a major role in complex queries when there is a need for calling the subqueries for multiple times</a:t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0"/>
          <p:cNvSpPr txBox="1"/>
          <p:nvPr/>
        </p:nvSpPr>
        <p:spPr>
          <a:xfrm>
            <a:off x="2123194" y="1709565"/>
            <a:ext cx="7527600" cy="2714801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</a:t>
            </a:r>
            <a:r>
              <a:rPr i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I_RATE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Acct_type, rate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Interest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A.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Acct_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um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I_RATE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Acct_type, I_RATE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rate 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ACCOUNT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JOIN </a:t>
            </a:r>
            <a:r>
              <a:rPr i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I_RATE 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i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ON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A.Acct_type = I_RATE.Acct_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ype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3" name="Google Shape;673;p60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60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5" name="Google Shape;67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60"/>
          <p:cNvSpPr txBox="1"/>
          <p:nvPr/>
        </p:nvSpPr>
        <p:spPr>
          <a:xfrm>
            <a:off x="585323" y="395165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Subqueries with the ‘WITH’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77" name="Google Shape;677;p60"/>
          <p:cNvSpPr txBox="1"/>
          <p:nvPr/>
        </p:nvSpPr>
        <p:spPr>
          <a:xfrm>
            <a:off x="508000" y="4424367"/>
            <a:ext cx="11176000" cy="1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WITH clause Query is referenced with I_RATE acts like a re-usable dataset and can be invoked for any number of times in the FROM clause or any other Sub-queries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Acct_type of ACCOUNT table joins with acct_type of  I_RATE derived table to derive the Interest rate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1"/>
          <p:cNvSpPr txBox="1"/>
          <p:nvPr/>
        </p:nvSpPr>
        <p:spPr>
          <a:xfrm>
            <a:off x="1391675" y="1486262"/>
            <a:ext cx="7527600" cy="2938105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</a:t>
            </a:r>
            <a:r>
              <a:rPr i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I_RATE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Acct_type, rate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Interest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A.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Acct_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um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I_RATE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Acct_type, I_RATE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rate 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ACCOUNT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JOIN </a:t>
            </a:r>
            <a:r>
              <a:rPr i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I_RATE </a:t>
            </a:r>
            <a:r>
              <a:rPr i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i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ON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A.Acct_type = I_RATE.Acct_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ype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3" name="Google Shape;683;p61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61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5" name="Google Shape;68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61"/>
          <p:cNvSpPr txBox="1"/>
          <p:nvPr/>
        </p:nvSpPr>
        <p:spPr>
          <a:xfrm>
            <a:off x="585323" y="395165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Subqueries with the ‘WITH’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7" name="Google Shape;687;p61"/>
          <p:cNvSpPr txBox="1"/>
          <p:nvPr/>
        </p:nvSpPr>
        <p:spPr>
          <a:xfrm>
            <a:off x="508000" y="4424367"/>
            <a:ext cx="11355600" cy="1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So that Each account will be assigned with interest rate based on its Acct_type including SAVINGS and RECURRING DEPOSITS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62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62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4" name="Google Shape;69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62"/>
          <p:cNvSpPr txBox="1"/>
          <p:nvPr/>
        </p:nvSpPr>
        <p:spPr>
          <a:xfrm>
            <a:off x="585323" y="395165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Subqueries with the ‘WITH’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96" name="Google Shape;696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5500" y="2702700"/>
            <a:ext cx="3361000" cy="3498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7" name="Google Shape;697;p62"/>
          <p:cNvSpPr txBox="1"/>
          <p:nvPr/>
        </p:nvSpPr>
        <p:spPr>
          <a:xfrm>
            <a:off x="726967" y="2027000"/>
            <a:ext cx="1219200" cy="7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Output: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3"/>
          <p:cNvSpPr txBox="1"/>
          <p:nvPr/>
        </p:nvSpPr>
        <p:spPr>
          <a:xfrm>
            <a:off x="508000" y="2685933"/>
            <a:ext cx="10261600" cy="2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Subqueries in the Having Clause</a:t>
            </a:r>
            <a:endParaRPr sz="60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04" name="Google Shape;704;p63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63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6" name="Google Shape;70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4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64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64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Subqueries in the ‘HAVING’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14" name="Google Shape;71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64"/>
          <p:cNvSpPr txBox="1"/>
          <p:nvPr/>
        </p:nvSpPr>
        <p:spPr>
          <a:xfrm>
            <a:off x="508000" y="2194833"/>
            <a:ext cx="10944400" cy="3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Having Clause condition filters the </a:t>
            </a:r>
            <a:r>
              <a:rPr i="1"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grouped results </a:t>
            </a: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of the Main Query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SubQuery in the Having Clause returns the derived values dynamically to satisfy the condition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This concept helps to compare the grouping results with other grouped results.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5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65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65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Subqueries in the ‘HAVING’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23" name="Google Shape;72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65"/>
          <p:cNvSpPr txBox="1"/>
          <p:nvPr/>
        </p:nvSpPr>
        <p:spPr>
          <a:xfrm>
            <a:off x="684100" y="4356800"/>
            <a:ext cx="11015200" cy="2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main query is trying to compare the branches whose actual profit ( calculated )  is higher than the minimum profit across the bank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Having Clause filters the branches with least earned profit with help of subquery result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25" name="Google Shape;725;p65"/>
          <p:cNvSpPr txBox="1"/>
          <p:nvPr/>
        </p:nvSpPr>
        <p:spPr>
          <a:xfrm>
            <a:off x="1707300" y="2105800"/>
            <a:ext cx="8968800" cy="22510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Branch, Product,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SUM(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Estimated_profit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as Profit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Profit_Loss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Branch, Product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HAVING SUM(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Estimated_profit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&gt;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AVG(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estimated_profit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						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Profit_Loss )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6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66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66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Subqueries in the ‘HAVING’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33" name="Google Shape;73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66"/>
          <p:cNvSpPr txBox="1"/>
          <p:nvPr/>
        </p:nvSpPr>
        <p:spPr>
          <a:xfrm>
            <a:off x="592333" y="1828800"/>
            <a:ext cx="1219200" cy="592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Output: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35" name="Google Shape;735;p66"/>
          <p:cNvSpPr txBox="1"/>
          <p:nvPr/>
        </p:nvSpPr>
        <p:spPr>
          <a:xfrm>
            <a:off x="3812500" y="2277733"/>
            <a:ext cx="8029200" cy="2136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788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 products that are returned with profit that is more than the average profit of ALL products at various branches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788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 objective is to know which products returned high profit than the average profit of all products profit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36" name="Google Shape;73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267" y="2483399"/>
            <a:ext cx="2882900" cy="1701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7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67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3" name="Google Shape;74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67"/>
          <p:cNvSpPr txBox="1"/>
          <p:nvPr/>
        </p:nvSpPr>
        <p:spPr>
          <a:xfrm>
            <a:off x="617167" y="1828967"/>
            <a:ext cx="10835200" cy="4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In our previous example, subquery is independently and dynamically executed in HAVING clause</a:t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115000"/>
              </a:lnSpc>
              <a:spcBef>
                <a:spcPts val="2667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lnSpc>
                <a:spcPct val="115000"/>
              </a:lnSpc>
              <a:spcBef>
                <a:spcPts val="266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Here , the SubQuery in the Having Clause can also </a:t>
            </a:r>
            <a:r>
              <a:rPr b="1" i="1" lang="en-GB" sz="2133">
                <a:solidFill>
                  <a:schemeClr val="dk1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correlates  </a:t>
            </a:r>
            <a:r>
              <a:rPr lang="en-GB" sz="2133">
                <a:solidFill>
                  <a:schemeClr val="dk1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with non grouping fields selected in the Main query</a:t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115000"/>
              </a:lnSpc>
              <a:spcBef>
                <a:spcPts val="2667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lnSpc>
                <a:spcPct val="115000"/>
              </a:lnSpc>
              <a:spcBef>
                <a:spcPts val="266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 that each result of the main query is conditionally retrieved based on the each record of subquery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45" name="Google Shape;745;p67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Correlated Subqueries in the ‘HAVING’ Clause  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8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68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2" name="Google Shape;75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8"/>
          <p:cNvSpPr txBox="1"/>
          <p:nvPr/>
        </p:nvSpPr>
        <p:spPr>
          <a:xfrm>
            <a:off x="1275600" y="1715033"/>
            <a:ext cx="10038400" cy="2092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Branch, P1.Product, SUM(Estimated_profit)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Profit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PROFIT_LOSS P1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Branch, P1.Product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HAVING SUM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(Estimated_profit)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(SELECT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AVG(Estimated_profit)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26709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PROFIT_LOSS P2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26709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P2.Product = P1.Product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4" name="Google Shape;754;p68"/>
          <p:cNvSpPr txBox="1"/>
          <p:nvPr/>
        </p:nvSpPr>
        <p:spPr>
          <a:xfrm>
            <a:off x="653800" y="4073767"/>
            <a:ext cx="10859600" cy="23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788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Here, for each individual product, branch level profit is verified with overall organization level profit </a:t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788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main query retrieves total- profit of each product at branch</a:t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788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Since the subquery is correlated with main query, the subquery is executed with an input from main query, and returns average of profit per each product</a:t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55" name="Google Shape;755;p68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Correlated Subqueries in the ‘HAVING’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9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69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2" name="Google Shape;76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9"/>
          <p:cNvSpPr txBox="1"/>
          <p:nvPr/>
        </p:nvSpPr>
        <p:spPr>
          <a:xfrm>
            <a:off x="1275600" y="1715033"/>
            <a:ext cx="10038400" cy="2092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Branch, P1.Product, SUM(Estimated_profit)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Profit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PROFIT_LOSS P1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Branch, P1.Product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HAVING SUM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(Estimated_profit)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(SELECT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AVG(Estimated_profit)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26709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PROFIT_LOSS P2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26709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P2.Product = P1.Product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4" name="Google Shape;764;p69"/>
          <p:cNvSpPr txBox="1"/>
          <p:nvPr/>
        </p:nvSpPr>
        <p:spPr>
          <a:xfrm>
            <a:off x="653800" y="4073767"/>
            <a:ext cx="10859600" cy="23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execution of the subquery is repeated for all the corresponding inputs from main query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Having clause will conditionally filters the records of main query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65" name="Google Shape;765;p69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Correlated Subqueries in the ‘HAVING’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0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70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2" name="Google Shape;772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70"/>
          <p:cNvSpPr txBox="1"/>
          <p:nvPr/>
        </p:nvSpPr>
        <p:spPr>
          <a:xfrm>
            <a:off x="508000" y="4675100"/>
            <a:ext cx="11005600" cy="15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Here, The subquery returns the “average of estimated profit" per each “product” across the company. ( includes ALL the branches )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result is then compared with main Query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74" name="Google Shape;774;p70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Correlated Subqueries in the ‘HAVING’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75" name="Google Shape;775;p70"/>
          <p:cNvSpPr txBox="1"/>
          <p:nvPr/>
        </p:nvSpPr>
        <p:spPr>
          <a:xfrm>
            <a:off x="508000" y="1322100"/>
            <a:ext cx="3140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Subquery result only:</a:t>
            </a:r>
            <a:endParaRPr sz="24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76" name="Google Shape;776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5834" y="3167300"/>
            <a:ext cx="3009900" cy="1447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7" name="Google Shape;777;p70"/>
          <p:cNvSpPr txBox="1"/>
          <p:nvPr/>
        </p:nvSpPr>
        <p:spPr>
          <a:xfrm>
            <a:off x="1883200" y="2004466"/>
            <a:ext cx="8886400" cy="110283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p2.product, AVG(Estimated_profit) FROM PROFIT_LOSS P2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 by p2.product;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71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71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4" name="Google Shape;78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71"/>
          <p:cNvSpPr txBox="1"/>
          <p:nvPr/>
        </p:nvSpPr>
        <p:spPr>
          <a:xfrm>
            <a:off x="508000" y="4123067"/>
            <a:ext cx="11243600" cy="25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main query retrieves “SUM of profit” of </a:t>
            </a:r>
            <a:r>
              <a:rPr i="1"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each product </a:t>
            </a: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at branch level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results returned from main Query are then filtered in the HAVING clause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In Having clause, the branch level profit is verified against organization level average profit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6" name="Google Shape;786;p71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Correlated Subqueries in the ‘HAVING’ Clause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7" name="Google Shape;787;p71"/>
          <p:cNvSpPr txBox="1"/>
          <p:nvPr/>
        </p:nvSpPr>
        <p:spPr>
          <a:xfrm>
            <a:off x="721367" y="1828800"/>
            <a:ext cx="27084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Example-2 Output:</a:t>
            </a:r>
            <a:endParaRPr sz="16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88" name="Google Shape;788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2061366"/>
            <a:ext cx="2895600" cy="171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2"/>
          <p:cNvSpPr txBox="1"/>
          <p:nvPr/>
        </p:nvSpPr>
        <p:spPr>
          <a:xfrm>
            <a:off x="508000" y="2685933"/>
            <a:ext cx="10261600" cy="1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Scalar Valued Expression</a:t>
            </a:r>
            <a:endParaRPr sz="6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95" name="Google Shape;795;p72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72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7" name="Google Shape;79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3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73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73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Scalar Valued Expression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805" name="Google Shape;80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73"/>
          <p:cNvSpPr txBox="1"/>
          <p:nvPr/>
        </p:nvSpPr>
        <p:spPr>
          <a:xfrm>
            <a:off x="586567" y="2201533"/>
            <a:ext cx="10835200" cy="3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Scalar Value is a single column value or a single record used as one dimension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highlight>
                <a:srgbClr val="FFFF00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 a scalar valued expression, the result of  one dimensional subquery is cross joins with all of the Main Query records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74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74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74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Scalar Valued Expression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814" name="Google Shape;81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4"/>
          <p:cNvSpPr txBox="1"/>
          <p:nvPr/>
        </p:nvSpPr>
        <p:spPr>
          <a:xfrm>
            <a:off x="765733" y="2792733"/>
            <a:ext cx="10208800" cy="3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667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select query when returns a single record , it is said to be one dimension, if the query returns multiple records, then it is two dimension as it consists of rows and columns</a:t>
            </a:r>
            <a:endParaRPr i="1" sz="266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75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75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2" name="Google Shape;82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5"/>
          <p:cNvSpPr txBox="1"/>
          <p:nvPr/>
        </p:nvSpPr>
        <p:spPr>
          <a:xfrm>
            <a:off x="1886867" y="1719100"/>
            <a:ext cx="8344400" cy="22196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Acct_Num, tran_date ,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CASE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WHEN Tran_Date =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 Select   MAX(Event_dt) From Message ) 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THEN   'HOLIDAY'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   ELSE   'WORKING DAY' END As Event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 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Tran_Date &gt; "2020-03-23"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4" name="Google Shape;824;p75"/>
          <p:cNvSpPr txBox="1"/>
          <p:nvPr/>
        </p:nvSpPr>
        <p:spPr>
          <a:xfrm>
            <a:off x="571200" y="4144067"/>
            <a:ext cx="11049600" cy="2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788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scalar value expression is the subquery enclosed in another SELECT  Query as a derived value</a:t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788" lvl="0" marL="609585" marR="0" rtl="0" algn="just">
              <a:spcBef>
                <a:spcPts val="2667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Here MAX (Holiday)  a single value returned from subQuery dynamically as a derived single value</a:t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788" lvl="0" marL="609585" marR="0" rtl="0" algn="just">
              <a:spcBef>
                <a:spcPts val="2667"/>
              </a:spcBef>
              <a:spcAft>
                <a:spcPts val="2667"/>
              </a:spcAft>
              <a:buClr>
                <a:srgbClr val="222222"/>
              </a:buClr>
              <a:buSzPts val="1500"/>
              <a:buFont typeface="Avenir"/>
              <a:buChar char="●"/>
            </a:pPr>
            <a:r>
              <a:rPr lang="en-GB" sz="2000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This scalar Query is executed for each record returned by the main Query</a:t>
            </a:r>
            <a:endParaRPr sz="2000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25" name="Google Shape;825;p75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Scalar Valued Expression using Subquery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76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76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2" name="Google Shape;832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6"/>
          <p:cNvSpPr txBox="1"/>
          <p:nvPr/>
        </p:nvSpPr>
        <p:spPr>
          <a:xfrm>
            <a:off x="508000" y="4211667"/>
            <a:ext cx="11112800" cy="23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The scalar value subquery expression returns 2020-04-24. 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2667"/>
              </a:spcBef>
              <a:spcAft>
                <a:spcPts val="2667"/>
              </a:spcAft>
              <a:buClr>
                <a:srgbClr val="222222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222222"/>
                </a:solidFill>
                <a:latin typeface="Avenir"/>
                <a:ea typeface="Avenir"/>
                <a:cs typeface="Avenir"/>
                <a:sym typeface="Avenir"/>
              </a:rPr>
              <a:t>Each record returned by TRANSACTION table compares its tran_date against 2020-04-24 , and displays if its Holiday or Working day as per CASE statement. </a:t>
            </a:r>
            <a:endParaRPr sz="2133">
              <a:solidFill>
                <a:srgbClr val="22222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34" name="Google Shape;834;p76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Scalar Valued Expression using Subquery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835" name="Google Shape;835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4934" y="1666633"/>
            <a:ext cx="3702133" cy="207366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7"/>
          <p:cNvSpPr txBox="1"/>
          <p:nvPr/>
        </p:nvSpPr>
        <p:spPr>
          <a:xfrm>
            <a:off x="508000" y="2685933"/>
            <a:ext cx="10261600" cy="1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Summary</a:t>
            </a:r>
            <a:endParaRPr sz="6000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42" name="Google Shape;842;p77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77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4" name="Google Shape;84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8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78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78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Summary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852" name="Google Shape;85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8"/>
          <p:cNvSpPr txBox="1"/>
          <p:nvPr/>
        </p:nvSpPr>
        <p:spPr>
          <a:xfrm>
            <a:off x="508000" y="1880600"/>
            <a:ext cx="10944400" cy="4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Subqueries are written to separate the complexity of logic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Subqueries performs the same way like JOINS but improves the performance of overall query execution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Subqueries written on tables with less records gives better performance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Subqueries can be written anywhere in the SELECT , FROM and WHERE and HAVING clauses of outer SQL query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Subqueries can be written in another subquery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Easy for debugging the subquery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9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9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0" name="Google Shape;860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9"/>
          <p:cNvSpPr txBox="1"/>
          <p:nvPr/>
        </p:nvSpPr>
        <p:spPr>
          <a:xfrm>
            <a:off x="508000" y="1880600"/>
            <a:ext cx="10944400" cy="4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Always use WITH clause when there is a necessary to invoke the subquery for multiple times in differents part of the query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Subqueries correlates with outer query by joining the common key columns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EXISTS Operator validates the subquery results to return true or false and filters the main query results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 Operator lookup on the values returned by Subquery and pass the outer query condition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ANY/ALL Operators quantifies by walking through all of the subquery results with outer query results. 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62" name="Google Shape;862;p79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Summary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80"/>
          <p:cNvSpPr txBox="1"/>
          <p:nvPr/>
        </p:nvSpPr>
        <p:spPr>
          <a:xfrm>
            <a:off x="508000" y="2685933"/>
            <a:ext cx="10261600" cy="1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667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6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80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80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1" name="Google Shape;87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2020-07-28T10:59:25Z</dcterms:created>
  <dc:creator>Deepali Gatade</dc:creator>
</cp:coreProperties>
</file>